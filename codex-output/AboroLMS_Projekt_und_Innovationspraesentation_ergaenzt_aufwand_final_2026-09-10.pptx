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a4433aab714d20" /><Relationship Type="http://schemas.openxmlformats.org/officeDocument/2006/relationships/extended-properties" Target="/docProps/app.xml" Id="Rce89498e665b4ab8" /><Relationship Type="http://schemas.openxmlformats.org/officeDocument/2006/relationships/officeDocument" Target="/ppt/presentation.xml" Id="Rd3c9b07b5f8445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9fd410bb10433d"/>
  </p:sldMasterIdLst>
  <p:notesMasterIdLst>
    <p:notesMasterId xmlns:r="http://schemas.openxmlformats.org/officeDocument/2006/relationships" r:id="R3daba3f5264242e5"/>
  </p:notesMasterIdLst>
  <p:sldIdLst>
    <p:sldId xmlns:r="http://schemas.openxmlformats.org/officeDocument/2006/relationships" id="256" r:id="R9363fc84b103437a"/>
    <p:sldId xmlns:r="http://schemas.openxmlformats.org/officeDocument/2006/relationships" id="257" r:id="Ra92984d5a7db4bdf"/>
    <p:sldId xmlns:r="http://schemas.openxmlformats.org/officeDocument/2006/relationships" id="258" r:id="Raeb1af4b4d2b489a"/>
    <p:sldId xmlns:r="http://schemas.openxmlformats.org/officeDocument/2006/relationships" id="259" r:id="R4047f6eca8674bba"/>
    <p:sldId xmlns:r="http://schemas.openxmlformats.org/officeDocument/2006/relationships" id="260" r:id="R1d655de119ba40bb"/>
    <p:sldId xmlns:r="http://schemas.openxmlformats.org/officeDocument/2006/relationships" id="261" r:id="R4cc9d83e0d9c4276"/>
    <p:sldId xmlns:r="http://schemas.openxmlformats.org/officeDocument/2006/relationships" id="262" r:id="Ra2e4f9795ba5491d"/>
    <p:sldId xmlns:r="http://schemas.openxmlformats.org/officeDocument/2006/relationships" id="263" r:id="R900a9cce2ac14d71"/>
    <p:sldId xmlns:r="http://schemas.openxmlformats.org/officeDocument/2006/relationships" id="264" r:id="Rba4fbc454156462e"/>
    <p:sldId xmlns:r="http://schemas.openxmlformats.org/officeDocument/2006/relationships" id="265" r:id="R47f43e964bfb4310"/>
    <p:sldId xmlns:r="http://schemas.openxmlformats.org/officeDocument/2006/relationships" id="266" r:id="R5d3689e7031b499e"/>
    <p:sldId xmlns:r="http://schemas.openxmlformats.org/officeDocument/2006/relationships" id="267" r:id="Rdcf61b173a9940b5"/>
    <p:sldId xmlns:r="http://schemas.openxmlformats.org/officeDocument/2006/relationships" id="268" r:id="R1d05703ddcd147e5"/>
    <p:sldId xmlns:r="http://schemas.openxmlformats.org/officeDocument/2006/relationships" id="269" r:id="R188aaad362a54049"/>
    <p:sldId xmlns:r="http://schemas.openxmlformats.org/officeDocument/2006/relationships" id="270" r:id="R37bd2ebfce8f46e3"/>
    <p:sldId xmlns:r="http://schemas.openxmlformats.org/officeDocument/2006/relationships" id="271" r:id="R5fbed7cda4aa4fdd"/>
    <p:sldId xmlns:r="http://schemas.openxmlformats.org/officeDocument/2006/relationships" id="272" r:id="R897e3d0c81524cfd"/>
    <p:sldId xmlns:r="http://schemas.openxmlformats.org/officeDocument/2006/relationships" id="273" r:id="R746271e7336946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7fa2038cfc4954" /><Relationship Type="http://schemas.openxmlformats.org/officeDocument/2006/relationships/slideMaster" Target="/ppt/slideMasters/slideMaster1.xml" Id="R309fd410bb10433d" /><Relationship Type="http://schemas.openxmlformats.org/officeDocument/2006/relationships/notesMaster" Target="/ppt/notesMasters/notesMaster1.xml" Id="R3daba3f5264242e5" /><Relationship Type="http://schemas.openxmlformats.org/officeDocument/2006/relationships/presProps" Target="/ppt/presProps.xml" Id="R3ffb6285df464972" /><Relationship Type="http://schemas.openxmlformats.org/officeDocument/2006/relationships/viewProps" Target="/ppt/viewProps.xml" Id="R04998569cabe45fb" /><Relationship Type="http://schemas.openxmlformats.org/officeDocument/2006/relationships/tableStyles" Target="/ppt/tableStyles.xml" Id="R792ec088a03c45b0" /><Relationship Type="http://schemas.openxmlformats.org/officeDocument/2006/relationships/slide" Target="/ppt/slides/slide1.xml" Id="R9363fc84b103437a" /><Relationship Type="http://schemas.openxmlformats.org/officeDocument/2006/relationships/slide" Target="/ppt/slides/slide2.xml" Id="Ra92984d5a7db4bdf" /><Relationship Type="http://schemas.openxmlformats.org/officeDocument/2006/relationships/slide" Target="/ppt/slides/slide3.xml" Id="Raeb1af4b4d2b489a" /><Relationship Type="http://schemas.openxmlformats.org/officeDocument/2006/relationships/slide" Target="/ppt/slides/slide4.xml" Id="R4047f6eca8674bba" /><Relationship Type="http://schemas.openxmlformats.org/officeDocument/2006/relationships/slide" Target="/ppt/slides/slide5.xml" Id="R1d655de119ba40bb" /><Relationship Type="http://schemas.openxmlformats.org/officeDocument/2006/relationships/slide" Target="/ppt/slides/slide6.xml" Id="R4cc9d83e0d9c4276" /><Relationship Type="http://schemas.openxmlformats.org/officeDocument/2006/relationships/slide" Target="/ppt/slides/slide7.xml" Id="Ra2e4f9795ba5491d" /><Relationship Type="http://schemas.openxmlformats.org/officeDocument/2006/relationships/slide" Target="/ppt/slides/slide8.xml" Id="R900a9cce2ac14d71" /><Relationship Type="http://schemas.openxmlformats.org/officeDocument/2006/relationships/slide" Target="/ppt/slides/slide9.xml" Id="Rba4fbc454156462e" /><Relationship Type="http://schemas.openxmlformats.org/officeDocument/2006/relationships/slide" Target="/ppt/slides/slide10.xml" Id="R47f43e964bfb4310" /><Relationship Type="http://schemas.openxmlformats.org/officeDocument/2006/relationships/slide" Target="/ppt/slides/slide11.xml" Id="R5d3689e7031b499e" /><Relationship Type="http://schemas.openxmlformats.org/officeDocument/2006/relationships/slide" Target="/ppt/slides/slide12.xml" Id="Rdcf61b173a9940b5" /><Relationship Type="http://schemas.openxmlformats.org/officeDocument/2006/relationships/slide" Target="/ppt/slides/slide13.xml" Id="R1d05703ddcd147e5" /><Relationship Type="http://schemas.openxmlformats.org/officeDocument/2006/relationships/slide" Target="/ppt/slides/slide14.xml" Id="R188aaad362a54049" /><Relationship Type="http://schemas.openxmlformats.org/officeDocument/2006/relationships/slide" Target="/ppt/slides/slide15.xml" Id="R37bd2ebfce8f46e3" /><Relationship Type="http://schemas.openxmlformats.org/officeDocument/2006/relationships/slide" Target="/ppt/slides/slide16.xml" Id="R5fbed7cda4aa4fdd" /><Relationship Type="http://schemas.openxmlformats.org/officeDocument/2006/relationships/slide" Target="/ppt/slides/slide17.xml" Id="R897e3d0c81524cfd" /><Relationship Type="http://schemas.openxmlformats.org/officeDocument/2006/relationships/slide" Target="/ppt/slides/slide18.xml" Id="R746271e7336946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8bf300677141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078af1fcc349a1" /><Relationship Type="http://schemas.openxmlformats.org/officeDocument/2006/relationships/notesMaster" Target="/ppt/notesMasters/notesMaster1.xml" Id="Ree1fc59caf8d47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af69350aba415a" /><Relationship Type="http://schemas.openxmlformats.org/officeDocument/2006/relationships/notesMaster" Target="/ppt/notesMasters/notesMaster1.xml" Id="Rc15d473ba2044b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dff8fa08534a4b" /><Relationship Type="http://schemas.openxmlformats.org/officeDocument/2006/relationships/notesMaster" Target="/ppt/notesMasters/notesMaster1.xml" Id="R4115d0bfb4304d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c76940435442ee" /><Relationship Type="http://schemas.openxmlformats.org/officeDocument/2006/relationships/notesMaster" Target="/ppt/notesMasters/notesMaster1.xml" Id="R8fb2d4e1af8c4e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079cec09934a21" /><Relationship Type="http://schemas.openxmlformats.org/officeDocument/2006/relationships/notesMaster" Target="/ppt/notesMasters/notesMaster1.xml" Id="R960c79ed684c41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9a0a19d1f04a9c" /><Relationship Type="http://schemas.openxmlformats.org/officeDocument/2006/relationships/notesMaster" Target="/ppt/notesMasters/notesMaster1.xml" Id="Rc39e44bdb33045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e14d12d7c846e7" /><Relationship Type="http://schemas.openxmlformats.org/officeDocument/2006/relationships/notesMaster" Target="/ppt/notesMasters/notesMaster1.xml" Id="Rfbe2ebe52ce943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869f044e094db8" /><Relationship Type="http://schemas.openxmlformats.org/officeDocument/2006/relationships/notesMaster" Target="/ppt/notesMasters/notesMaster1.xml" Id="R4f9cab5e00144e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783f33469a44a9" /><Relationship Type="http://schemas.openxmlformats.org/officeDocument/2006/relationships/notesMaster" Target="/ppt/notesMasters/notesMaster1.xml" Id="R23dac310ff5448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74125b60d840c0" /><Relationship Type="http://schemas.openxmlformats.org/officeDocument/2006/relationships/notesMaster" Target="/ppt/notesMasters/notesMaster1.xml" Id="R7615ba22eab847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beed31279543b7" /><Relationship Type="http://schemas.openxmlformats.org/officeDocument/2006/relationships/notesMaster" Target="/ppt/notesMasters/notesMaster1.xml" Id="Rbc1df0fc933643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500086f83044a5" /><Relationship Type="http://schemas.openxmlformats.org/officeDocument/2006/relationships/notesMaster" Target="/ppt/notesMasters/notesMaster1.xml" Id="R28d224beb4e041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ee1ca249fc4177" /><Relationship Type="http://schemas.openxmlformats.org/officeDocument/2006/relationships/notesMaster" Target="/ppt/notesMasters/notesMaster1.xml" Id="Rbd71b837090943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63e34946694695" /><Relationship Type="http://schemas.openxmlformats.org/officeDocument/2006/relationships/notesMaster" Target="/ppt/notesMasters/notesMaster1.xml" Id="Re645b696e2b34de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d20b73405e64b25" /><Relationship Type="http://schemas.openxmlformats.org/officeDocument/2006/relationships/notesMaster" Target="/ppt/notesMasters/notesMaster1.xml" Id="R893719053d0e41d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a64c0c6b914437" /><Relationship Type="http://schemas.openxmlformats.org/officeDocument/2006/relationships/notesMaster" Target="/ppt/notesMasters/notesMaster1.xml" Id="Rcfd3c82b75484d5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12fc269b849431d" /><Relationship Type="http://schemas.openxmlformats.org/officeDocument/2006/relationships/notesMaster" Target="/ppt/notesMasters/notesMaster1.xml" Id="Rf15001788b604f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445b316bb174f4a" /><Relationship Type="http://schemas.openxmlformats.org/officeDocument/2006/relationships/notesMaster" Target="/ppt/notesMasters/notesMaster1.xml" Id="R2ae16b6d4f354d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  <a:p xmlns:a="http://schemas.openxmlformats.org/drawingml/2006/main">
            <a:r>
              <a:t>Aufwandsannahme: Entwicklung von Februar bis 10.09.2026 in der Freizeit mit 3 bis 4 Stunden pro Tag. Rechnung: 222 Tage x 3 bis 4 Stunden = 666 bis 888 Stunden. Stundensatz-Quelle: freelancermap Freelancer-Kompass 2026, durchschnittlicher Stundensatz 103 EUR/h. URL: https://www.freelancermap.de/blog/freelancer-einkommen-projektumsatz/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  <a:p xmlns:a="http://schemas.openxmlformats.org/drawingml/2006/main">
            <a:r>
              <a:t>Bewertung: grobe kaufmännische Einschätzung, keine Rechts- oder Steuerberatung. Der Preisrahmen berücksichtigt den Freizeitaufwand seit Februar, offene Produktivrisiken und fehlende laufende Umsätze.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be96a9f0c45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ef44dd41145c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B0DD3EA-321C-4111-9183-6D2872EB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9742C6-C663-4209-9004-7691E8A8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B2A4A"/>
                </a:solidFill>
                <a:latin typeface="Aptos Display"/>
                <a:ea typeface="Aptos Display"/>
                <a:cs typeface="Aptos Display"/>
              </a:rPr>
              <a:t>ML-LMS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EAC69C9-629B-4234-BAB6-4E47AC62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07286"/>
                </a:solidFill>
              </a:rPr>
              <a:t>Projekt- und Innovationspräsentation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06CC90F-369F-4BEB-954B-9FC1FB44E55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a719a04f8a4740" /><Relationship Type="http://schemas.openxmlformats.org/officeDocument/2006/relationships/slideLayout" Target="/ppt/slideLayouts/slideLayout1.xml" Id="R49b8132d38f34b2e" /><Relationship Type="http://schemas.openxmlformats.org/officeDocument/2006/relationships/slideLayout" Target="/ppt/slideLayouts/slideLayout2.xml" Id="R60cf2498528c414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39ADD8A-35D4-4657-8821-330AFE34872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b8132d38f34b2e"/>
    <p:sldLayoutId xmlns:r="http://schemas.openxmlformats.org/officeDocument/2006/relationships" id="2147483650" r:id="R60cf2498528c414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036ac7b0f24d1c" /><Relationship Type="http://schemas.openxmlformats.org/officeDocument/2006/relationships/notesSlide" Target="/ppt/notesSlides/notesSlide1.xml" Id="R8ef926f7a25a49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52056b6b84454d" /><Relationship Type="http://schemas.openxmlformats.org/officeDocument/2006/relationships/notesSlide" Target="/ppt/notesSlides/notesSlide2.xml" Id="R0ff07452328143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4f67a7f03341ad" /><Relationship Type="http://schemas.openxmlformats.org/officeDocument/2006/relationships/notesSlide" Target="/ppt/notesSlides/notesSlide3.xml" Id="R3298a925415e4c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7a521fcc304376" /><Relationship Type="http://schemas.openxmlformats.org/officeDocument/2006/relationships/notesSlide" Target="/ppt/notesSlides/notesSlide4.xml" Id="R981c287faec249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36dc71b3364b9f" /><Relationship Type="http://schemas.openxmlformats.org/officeDocument/2006/relationships/notesSlide" Target="/ppt/notesSlides/notesSlide5.xml" Id="Rd3e99a2a003e4d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56c5666106439a" /><Relationship Type="http://schemas.openxmlformats.org/officeDocument/2006/relationships/notesSlide" Target="/ppt/notesSlides/notesSlide6.xml" Id="R47cfb48d630643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74b897a0734e02" /><Relationship Type="http://schemas.openxmlformats.org/officeDocument/2006/relationships/notesSlide" Target="/ppt/notesSlides/notesSlide7.xml" Id="R8935a4b347944b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eac2564f6e4321" /><Relationship Type="http://schemas.openxmlformats.org/officeDocument/2006/relationships/notesSlide" Target="/ppt/notesSlides/notesSlide8.xml" Id="R4b8ed2a938e441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01c314b3a34485" /><Relationship Type="http://schemas.openxmlformats.org/officeDocument/2006/relationships/notesSlide" Target="/ppt/notesSlides/notesSlide9.xml" Id="R86308eea23de4e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b2c40e1cca4bb8" /><Relationship Type="http://schemas.openxmlformats.org/officeDocument/2006/relationships/notesSlide" Target="/ppt/notesSlides/notesSlide10.xml" Id="R710120e9010140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42e60805b84b39" /><Relationship Type="http://schemas.openxmlformats.org/officeDocument/2006/relationships/notesSlide" Target="/ppt/notesSlides/notesSlide11.xml" Id="R44cd86e2d98d49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95f381ac4c4e80" /><Relationship Type="http://schemas.openxmlformats.org/officeDocument/2006/relationships/notesSlide" Target="/ppt/notesSlides/notesSlide12.xml" Id="Rf18922439b944d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f4be90c954616" /><Relationship Type="http://schemas.openxmlformats.org/officeDocument/2006/relationships/notesSlide" Target="/ppt/notesSlides/notesSlide13.xml" Id="R9c49821015d340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9cf66d3704c6f" /><Relationship Type="http://schemas.openxmlformats.org/officeDocument/2006/relationships/notesSlide" Target="/ppt/notesSlides/notesSlide14.xml" Id="R8a6ca5c58b5945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7d1c39d164682" /><Relationship Type="http://schemas.openxmlformats.org/officeDocument/2006/relationships/notesSlide" Target="/ppt/notesSlides/notesSlide15.xml" Id="Ree32139e0e5448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6917b61004657" /><Relationship Type="http://schemas.openxmlformats.org/officeDocument/2006/relationships/notesSlide" Target="/ppt/notesSlides/notesSlide16.xml" Id="R864ec694671444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0037bd060434f" /><Relationship Type="http://schemas.openxmlformats.org/officeDocument/2006/relationships/notesSlide" Target="/ppt/notesSlides/notesSlide17.xml" Id="R8c75c2e2e0db41c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d13997874434c" /><Relationship Type="http://schemas.openxmlformats.org/officeDocument/2006/relationships/notesSlide" Target="/ppt/notesSlides/notesSlide18.xml" Id="R15007e243d1a41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DD0A665-9677-4CF6-A075-C3F8CDFE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265A340-FB5A-4E0A-B11D-FD28E01F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4389120" cy="4389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6B">
              <a:alpha val="95000"/>
            </a:srgbClr>
          </a:solidFill>
          <a:ln xmlns:a="http://schemas.openxmlformats.org/drawingml/2006/main" w="12700">
            <a:solidFill>
              <a:srgbClr val="123F6B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C15F0A-DB85-435D-B269-F7A1FD21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616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>
              <a:alpha val="70000"/>
            </a:srgbClr>
          </a:solidFill>
          <a:ln xmlns:a="http://schemas.openxmlformats.org/drawingml/2006/main"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F156E76-79BD-4105-BFA3-B9EF22DE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4572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</a:rPr>
              <a:t>AboroLMS</a:t>
            </a:r>
            <a:endParaRPr sz="4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E8AB841-5A02-41EA-BDF2-F8124E97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4884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D8E8F7"/>
                </a:solidFill>
              </a:rPr>
              <a:t>Projekt- und Innovationspräsentation</a:t>
            </a:r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DD96094-FAC5-4A3F-B9FE-176F296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80360"/>
            <a:ext cx="7132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AFC9DF"/>
                </a:solidFill>
              </a:rPr>
              <a:t>Lernen · Prüfen · Zertifizieren · Qualifikationen nachweisen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2F6C6E0-F24A-47E4-9E64-98D06572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03320"/>
            <a:ext cx="14173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3B5C"/>
          </a:solidFill>
          <a:ln xmlns:a="http://schemas.openxmlformats.org/drawingml/2006/main" w="12700">
            <a:solidFill>
              <a:srgbClr val="183B5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E7AE3EF-EF92-40B0-9692-CA6C8A00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762756"/>
            <a:ext cx="12710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CFE6F8"/>
                </a:solidFill>
              </a:rPr>
              <a:t>SELF-HOSTED</a:t>
            </a:r>
            <a:endParaRPr sz="9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C1AEC38-90F5-4C84-A056-C8B578D2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3703320"/>
            <a:ext cx="15087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3B5C"/>
          </a:solidFill>
          <a:ln xmlns:a="http://schemas.openxmlformats.org/drawingml/2006/main" w="12700">
            <a:solidFill>
              <a:srgbClr val="183B5C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15CB5D9-CED3-40F5-AE20-33903BD6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3762756"/>
            <a:ext cx="13624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CFE6F8"/>
                </a:solidFill>
              </a:rPr>
              <a:t>MANDANTENFÄHIG</a:t>
            </a:r>
            <a:endParaRPr sz="9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9D35C37-C8AD-4C55-911B-0F65239C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6" y="3703320"/>
            <a:ext cx="14173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3B5C"/>
          </a:solidFill>
          <a:ln xmlns:a="http://schemas.openxmlformats.org/drawingml/2006/main" w="12700">
            <a:solidFill>
              <a:srgbClr val="183B5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5C37247-5A97-4B2B-BCD1-25F46884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3762756"/>
            <a:ext cx="12710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CFE6F8"/>
                </a:solidFill>
              </a:rPr>
              <a:t>VERIFIZIERBAR</a:t>
            </a:r>
            <a:endParaRPr sz="9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BB7A22F-4D26-4C76-8F92-9C2B18E1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06440"/>
            <a:ext cx="8046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1AEC6"/>
                </a:solidFill>
              </a:rPr>
              <a:t>Innovationsprozessmanagement · Konzept auf Basis eines vorhandenen funktionsfähigen Prototyps</a:t>
            </a:r>
            <a:endParaRPr sz="10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7E00D91-BDA8-4E8E-BB3C-6DE1E0EA1C5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23445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EC0E38A-01DD-4EF4-9F55-046A8A30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Die Idee in einem Satz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F7A818F-29F1-4E88-A9E0-4BD56226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Eine durchgängige Plattform statt vieler Einzellösungen.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4040BB7-469A-4B58-9AA8-801FF236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1092708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B5C311E-0008-4416-BDF0-B81C3C47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56232"/>
            <a:ext cx="102870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</a:rPr>
              <a:t>AboroLMS</a:t>
            </a:r>
            <a:r>
              <a:rPr sz="2000" b="1">
                <a:solidFill>
                  <a:srgbClr val="FFFFFF"/>
                </a:solidFill>
              </a:rPr>
              <a:t> verbindet Lerninhalte, Lernfortschritt, Prüfungen und verifizierbare Zertifikate in einer selbst hostbaren, mandantenfähigen Plattform.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B7F09E8-62EE-46C2-B248-2FE7A8E5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2514600" cy="224028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08FC14D-4D2A-4F16-9898-0E6DB5AB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6400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9BEB92-0E60-46B6-A357-80F0377E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64408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Lernen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332CF0F-8D52-42C2-805B-E0C23ECE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5888"/>
            <a:ext cx="207568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Kurse, Abschnitte, Lektionen, Videos, Dokumente, Texte, Mini-Quiz und Lernpfade.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B18659C-3B9E-4B41-A026-5CDD713E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63240"/>
            <a:ext cx="2514600" cy="224028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54F363-DFEA-4968-B256-59B9A4E5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63240"/>
            <a:ext cx="6400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8684F31-2484-415F-92C2-F236D821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64408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Prüfen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729E384-AABC-4790-837D-6EFDFD6A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75888"/>
            <a:ext cx="207568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Fragenkataloge, unterschiedliche Fragetypen, Prüfungsversuche sowie automatische und manuelle Bewertung.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B048FBB-ACF7-4EE9-BD4C-F7DE963F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3240"/>
            <a:ext cx="2514600" cy="224028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9A0A5C6-EA3B-4C31-B091-4C2F7ED7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3240"/>
            <a:ext cx="6400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D619FA1-F30E-4CDA-97CF-06FDF211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64408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Zertifizieren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B36BDB-7E95-4BB2-AC2C-F41140D3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5888"/>
            <a:ext cx="207568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Automatisch erzeugte Zertifikate mit eindeutiger ID, QR-Code und öffentlicher Verifikation.</a:t>
            </a:r>
            <a:endParaRPr sz="10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400749D-5978-43A5-944F-35EBC071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63240"/>
            <a:ext cx="2514600" cy="224028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8907814-019E-4F23-83C0-4EC4D05E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63240"/>
            <a:ext cx="6400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09A4E85-F406-491B-A09A-AD7C134D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64408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Betreiben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7A14225-FACA-4F5B-8967-0CF0F2E1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75888"/>
            <a:ext cx="207568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Organisationen, Rollen, eigenes Branding, eigene SMTP-Konfiguration und Self-Hosting.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579393A-4658-4C0F-9068-6FD6D512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8C996AC-ED23-45A9-B8E4-B032796DBED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46573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9880449-F0DF-4C3B-8E60-8AD4FA96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1 · Prozessgrafik: Vom Lerninhalt zum verifizierbaren Zertifikat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9D6AFB-1ED1-412D-9240-BC9B5386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Ein durchgängiger Qualifikationsprozess ohne Medienbruch.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8F7A2CD-B5D5-4F5C-963E-609DBD1E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28C20BE-62E9-4CD2-836E-AF342C19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9462D8F-1597-4847-92C3-C185353A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Kurs erstellen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283DBD1-7EE5-4272-93C1-84268D28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Trainer strukturiert Inhalte in Abschnitte und Lektionen.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7CB12AA-6C15-4E0F-AB15-6F00BFC2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163950D-7FAB-447C-89D6-4C262C3C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8D5DF1D-14C2-478B-BA28-ABB296F9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2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0E99222-91DB-44DC-81BB-846411F8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2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Lernen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A02EB7-DE50-4284-A93D-C9708F04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Teilnehmer bearbeitet Inhalte; Fortschritt wird dokumentiert.</a:t>
            </a:r>
            <a:endParaRPr sz="9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DDE1002-0014-4E49-85AD-C1DD0A3D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F2445BF-D792-449D-9BCC-76CD9492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C24F2DB-3B04-46C8-A989-DBC10E9C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3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452F0CD-8FD7-4D40-953C-EF1F2CCA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Prüfen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730D177-CC40-4F29-8986-4F11EDDA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Prüfung aus Fragenkatalog mit definierten Bestehensregeln.</a:t>
            </a:r>
            <a:endParaRPr sz="9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0ABD4C3-2C8D-495C-B116-B0606556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BB01B99-6B1D-4977-973A-CB7915B9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0C95BCF-B96B-4C88-8B8F-9CF2E938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4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B3521A0-06F5-4404-B8CD-EAD7BB32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Bewerten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E10872F-2152-47C5-A461-6EA26736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Automatische Auswertung + manuelle Bewertung von Freitext.</a:t>
            </a:r>
            <a:endParaRPr sz="9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3C96DF4-FA76-48D6-B0F6-82BDAE7B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0C1750D-0481-4A57-B977-DAEA7142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56CA787-36C4-4B0A-B843-706B9533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5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E40F2CB-3000-4A00-BBF7-1A625B32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Zertifizieren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8448CCD-E250-4A7E-83D2-F11B29E3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Erfolgreicher Abschluss erzeugt einen eindeutigen Nachweis.</a:t>
            </a:r>
            <a:endParaRPr sz="9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DF198B1-17A9-40B6-9BF5-A96DE14D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7CF991A-030B-4EAA-8E1F-FDA598D7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368EA80-C5D0-48B4-BF96-3E20057B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69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6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B6569ED-3043-44B7-8D40-404689C0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Verifizieren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BBC0284-11EB-4677-9B43-584ED5F4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QR-Code / öffentliche Prüfung bestätigt Echtheit und Status.</a:t>
            </a:r>
            <a:endParaRPr sz="9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CAD1961-C18D-404C-9002-43A6469C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996696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2700">
            <a:solidFill>
              <a:srgbClr val="B7DFC2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4611F43-CED6-4E4E-9918-8BE3D57A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10328"/>
            <a:ext cx="9326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6332"/>
                </a:solidFill>
              </a:rPr>
              <a:t>Ergebnis: Aus „Teilnahme“ wird ein nachvollziehbarer Qualifikationsnachweis – mit dokumentiertem Lernweg, Prüfungsergebnis und überprüfbarem Zertifikat.</a:t>
            </a:r>
            <a:endParaRPr sz="14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74EB9CC-D0AC-4C19-BE9A-D37276C5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E20D2BB-3FCA-490E-B2FE-4725992F880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85790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FC6F106-9A41-45CA-AFD7-EC4799AD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2 · Produktübersicht des bestehenden Prototyps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6093AE-AA86-4AC0-B89B-DEC94AE4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Funktionsbereiche, die im Projekt bereits als eigene Django-Module angelegt sind.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41E98B-D274-4535-B606-AD96BD27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F304D6C-698F-4AC3-920E-337306E7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2E171D-DEE6-4629-BE87-0482DDE0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60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1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36B9D7F-97DE-4B27-9447-5034DB7A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783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Kursmanagement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8655D4-C4C7-4A08-A245-7950D77B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58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Kurse · Abschnitte · Lektionen · Begleitmaterial</a:t>
            </a:r>
            <a:endParaRPr sz="93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B34EEC4-D7B0-4B4A-B082-D461C588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07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apps/courses</a:t>
            </a:r>
            <a:endParaRPr sz="78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A6ECAAE-551A-41F0-BB53-95C1D7A5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600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C202CFE-2CB6-4EA7-8875-477766F7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0C3EE02-CA89-4D90-8AB5-5AC702B7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860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2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F754970-36D0-4C2B-A6F5-59698BE3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1783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Lernpfade &amp; Fortschritt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CEDAF05-36B1-4801-9DE8-53A67D4F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258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Einschreibungen · Abschlussstatus · Bewertungen</a:t>
            </a:r>
            <a:endParaRPr sz="93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026C86B-5FB2-4E45-A1A9-9E55C725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907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apps/courses</a:t>
            </a:r>
            <a:endParaRPr sz="78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2AEB942-993C-4F26-B22A-3E32A0FA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0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A99E058-7011-4074-8BCC-4B0B3FF9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A63D3D3-7F99-4C25-8788-65311C92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60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3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A67E99B-871B-40A8-A8F7-6D1A03D5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1783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Prüfungssystem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D93E462-0E47-487D-B349-2B1E5FD7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258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Fragenkatalog · Tags · Versuche · Teilnehmerantworten</a:t>
            </a:r>
            <a:endParaRPr sz="93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46A75D5-67E6-40B4-81BE-DE9E5FDD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907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apps/exams</a:t>
            </a:r>
            <a:endParaRPr sz="78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D5C9818-D8C0-4D54-A643-A8173BA6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600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6048819-4D02-40C5-94D6-B07FEE9C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8FB2795-B8F5-4737-B0A3-0C34764C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1860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4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2CB725D-EB4A-4733-9995-C7DF6780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1783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Zertifikate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498F4C2-0C89-4962-A26E-5FC192F4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58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Organisationsdesign · eindeutiger Zertifikatscode</a:t>
            </a:r>
            <a:endParaRPr sz="93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9262C2B-5D84-4C61-9A8E-EBE1E31D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907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apps/certificates</a:t>
            </a:r>
            <a:endParaRPr sz="78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A974ED0-726A-4A5D-B665-7C2D6524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86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26633C4-6454-41DB-8A2F-9B9D2768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69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2FBB4AF-AD20-4E60-B823-108BE7B0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146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5</a:t>
            </a:r>
            <a:endParaRPr sz="9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2D61AE7-21FD-49F4-AF47-FF211C45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069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Organisationen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369C51D-272C-4E59-9B68-226CB76A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44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Mandanten · Einladungen · Branding · eigene Startseite</a:t>
            </a:r>
            <a:endParaRPr sz="93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DA98ACA-1797-412C-818A-F31EFD0B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93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apps/organisations</a:t>
            </a:r>
            <a:endParaRPr sz="78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2A9E8AB-A7C7-41AF-8989-6302BB0A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86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89B73A4-F744-48DD-A8D4-62086FA4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4069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B08D231-8621-432A-846B-34EB656C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4146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6</a:t>
            </a:r>
            <a:endParaRPr sz="9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8559242-6CFE-4FD5-A1A4-65C6A49F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4069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Benutzer &amp; Rollen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6DC12251-AC0C-4F73-8FEE-9788A682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544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Super-Admin · Org-Admin · Trainer · Prüfer · Lernender</a:t>
            </a:r>
            <a:endParaRPr sz="93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0EB66A3-B0F3-4311-85AE-446310C9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193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apps/accounts</a:t>
            </a:r>
            <a:endParaRPr sz="78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8E2C1883-CEC0-43AF-8BC8-ABD9E583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86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2EEFD84E-657E-4FF4-B17D-ABF0FCC1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069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4F9E083B-7F97-4A57-BECD-134BB87C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146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7</a:t>
            </a:r>
            <a:endParaRPr sz="9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7DB32CF9-95AC-4316-9C03-7381F490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069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Payments</a:t>
            </a:r>
            <a:endParaRPr sz="13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F40469DA-DAF0-4F31-9758-B80BA45D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544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Zahlungen · Provision · Traineranteil · Rechnung</a:t>
            </a:r>
            <a:endParaRPr sz="93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096F06D5-FF63-4F04-866F-E004C383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93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apps/payments</a:t>
            </a:r>
            <a:endParaRPr sz="78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05CC9EF9-D718-48E4-A242-C002D34C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886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E6238266-E843-492E-8DC4-1966177B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4069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ADC196C0-0F1C-4548-A45E-DD8FD599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4146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8</a:t>
            </a:r>
            <a:endParaRPr sz="90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77C384C0-28A3-4E69-ACF6-32C5D2EB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4069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Security</a:t>
            </a:r>
            <a:endParaRPr sz="13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DED632AE-F5D6-4CA3-8D0A-24147B9A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544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Verschlüsselte sensible Felder · Security Checks</a:t>
            </a:r>
            <a:endParaRPr sz="93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D22B6CE2-604F-4EFE-BEF0-15B26B88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193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apps/security</a:t>
            </a:r>
            <a:endParaRPr sz="78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09B2541-87E1-4769-AA43-E0670A88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5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9971D10-A5C0-4E4E-8356-C50F228987B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77255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366B54E-D2B9-473E-B28B-E4071A06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Produktansicht: Lernenden-Dashboard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485833D-8B7A-4DEF-88E7-FF2063C8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Illustrative Produktübersicht auf Basis der vorhandenen Datenmodelle und Funktionen.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493DECF-BFC4-42C1-82A9-B261651D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10744200" cy="4526280"/>
          </a:xfrm>
          <a:prstGeom xmlns:a="http://schemas.openxmlformats.org/drawingml/2006/main" prst="roundRect">
            <a:avLst>
              <a:gd name="adj" fmla="val 8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4D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34BC664-F611-4519-91E0-BD4A41A9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187452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37F3B4-6F8E-4572-8A25-EA02786A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783080"/>
            <a:ext cx="1234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AboroLMS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E3B0B84-1C3B-4BC1-AD27-765D75DC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2316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</a:rPr>
              <a:t>Dashboard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63CB397-359B-4C1D-A2D3-BA66B8F0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92608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FD1E2"/>
                </a:solidFill>
              </a:rPr>
              <a:t>Meine Kurse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1697B68-1EA9-4CC6-BE89-996C48D9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42900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FD1E2"/>
                </a:solidFill>
              </a:rPr>
              <a:t>Lernpfade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2BE047B-FE67-492E-B866-9B71188D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93192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FD1E2"/>
                </a:solidFill>
              </a:rPr>
              <a:t>Prüfungen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E1F9013-38FD-417A-B4F4-498597B3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43484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FD1E2"/>
                </a:solidFill>
              </a:rPr>
              <a:t>Zertifikate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E0E2585-F761-47A2-8A71-7F2E3DA3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8308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72B3A"/>
                </a:solidFill>
              </a:rPr>
              <a:t>Guten Morgen, Max</a:t>
            </a:r>
            <a:endParaRPr sz="2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F8BA7AD-6A25-4427-A70F-5549A919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7984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Dein Lernfortschritt auf einen Blick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E9773E0-28FD-4618-870C-ABAEB6F0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6040"/>
            <a:ext cx="1572768" cy="960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8D9F2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39DAF1F-8A1E-4404-8987-B5C1E6C6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7797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6FEB"/>
                </a:solidFill>
              </a:rPr>
              <a:t>3</a:t>
            </a:r>
            <a:endParaRPr sz="1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43BCD82-B9A9-44ED-8375-29A297BD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163824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07286"/>
                </a:solidFill>
              </a:rPr>
              <a:t>aktive Kurse</a:t>
            </a:r>
            <a:endParaRPr sz="8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C5E4469-4302-418D-8F49-1C69377B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06040"/>
            <a:ext cx="1572768" cy="960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2700">
            <a:solidFill>
              <a:srgbClr val="F6C89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44E6B85-1EA6-4BB4-A5E2-73810B6C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797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28C28"/>
                </a:solidFill>
              </a:rPr>
              <a:t>68 %</a:t>
            </a:r>
            <a:endParaRPr sz="18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20B1254-58F6-4105-977A-5765DADB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163824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07286"/>
                </a:solidFill>
              </a:rPr>
              <a:t>Lernpfad</a:t>
            </a:r>
            <a:endParaRPr sz="8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B2573CD-2C06-48DE-A2C2-ED9FC2B8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606040"/>
            <a:ext cx="1572768" cy="960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8D9F2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5F85BF9-3F49-4474-A369-2FD49D96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797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6FEB"/>
                </a:solidFill>
              </a:rPr>
              <a:t>1</a:t>
            </a:r>
            <a:endParaRPr sz="1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66A266B-1D13-417C-B3C1-EE3D082C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163824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07286"/>
                </a:solidFill>
              </a:rPr>
              <a:t>offene Prüfung</a:t>
            </a:r>
            <a:endParaRPr sz="8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B582059-D1CA-4F21-8C64-068FB818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606040"/>
            <a:ext cx="1572768" cy="960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8D9F2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095A230-7F8E-437F-9EE5-5DAC6C2B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7797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6FEB"/>
                </a:solidFill>
              </a:rPr>
              <a:t>4</a:t>
            </a:r>
            <a:endParaRPr sz="18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9A1DB25-21A2-4BDF-A902-4E18D65B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63824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07286"/>
                </a:solidFill>
              </a:rPr>
              <a:t>Zertifikate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B60E564-A2B9-48C4-824D-F373CB63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1363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Weiterlernen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09DA60C-1372-4BDE-96B5-527494FE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97680"/>
            <a:ext cx="5394960" cy="105156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3A93FE3-08B2-47AA-9D40-785F0E2F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4517136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B3A"/>
                </a:solidFill>
              </a:rPr>
              <a:t>IT-Sicherheit Grundlagen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71352DB-B065-4ADC-A51C-07FCBDB7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4828032"/>
            <a:ext cx="2560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07286"/>
                </a:solidFill>
              </a:rPr>
              <a:t>8 von 12 Lektionen abgeschlossen</a:t>
            </a:r>
            <a:endParaRPr sz="9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AEEF739-584B-43EE-95CA-78BD79D7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17720"/>
            <a:ext cx="1874520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F"/>
          </a:solidFill>
          <a:ln xmlns:a="http://schemas.openxmlformats.org/drawingml/2006/main" w="12700">
            <a:solidFill>
              <a:srgbClr val="DDE6EF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2B12C0C-BACE-4052-95A1-A02CC7B1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17720"/>
            <a:ext cx="1280160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9FC3D73-879E-4BC3-9550-102B3315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526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1F6FEB"/>
                </a:solidFill>
              </a:rPr>
              <a:t>68 %</a:t>
            </a:r>
            <a:endParaRPr sz="10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C71DD032-1706-4CE7-9991-94AE89CB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443984"/>
            <a:ext cx="15087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14C8834-D12B-4C4E-B5AB-A9272D2D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503420"/>
            <a:ext cx="13624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FORTSETZEN</a:t>
            </a:r>
            <a:endParaRPr sz="9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6AD464D-257F-42DB-99AD-CD85179C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Illustrative Produktansicht – keine 1:1-Abbildung eines gespeicherten Screenshots. Funktionen basieren auf dem vorhandenen Prototyp.</a:t>
            </a:r>
            <a:endParaRPr sz="75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52542D9-0EEF-49A9-BF69-43888231BCE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00828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7E74097-AE50-4D4B-A806-92C03B74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Rollenmodell und Mandantenfähigkeit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C20C07C-74EC-4FC1-BE37-015A148F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Eine Plattform – klar getrennte Verantwortlichkeiten pro Organisation.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ADDCADE-C458-4006-B6CC-B60380B5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02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301CBD2-9B34-4754-8852-757CD9CB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7190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6E1FAD9-9C98-42D0-BFAC-E4440569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673352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Super-Admin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C6A654-5645-413F-99A3-51F6DF10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73352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Plattformweite Administration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2D3085D-5EFC-4636-AC48-E3E72CB4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50592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D012A34-138B-4DEE-B74B-E10A76CC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569464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8B35F8-3E78-42B3-84D0-E57E3E8B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523744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Org-Admin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29131EE-705A-4317-955A-E250BD4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23744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Organisation, Nutzer, Branding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BC184FC-92EF-4DAA-AF86-E3F9CB71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00984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B863849-B0B5-452D-8560-2BB2050E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19856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8621292-CA3D-4394-8878-F8AF593C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374136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Trainer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44004A6-ACA0-4DB9-9716-4459D343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74136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Kurse und Lerninhalte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C1EB8C2-DFE3-4AC6-ADCF-893D1970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51376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F64E020-6D46-408F-BF56-2CFDC0E0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70248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A081FB9-EE96-4FD5-93DA-C29E5AEA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22452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Prüfer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B5FD26C-3135-45CD-B0E0-740C7113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245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Prüfungen und Bewertungen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246ECA2-873D-4190-BA1D-2A5AF72F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01768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04E0727-0340-4E9A-9506-5EC0E69E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1206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5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514B88E-8C01-4A3D-B14B-8EF2D164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07492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Lernender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75168E5-775E-49A0-93C2-F3B47EE0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7492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Lernen, Prüfungen, Zertifikate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0577035-13B1-4F89-B315-CC7F61EE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4389120" cy="4160520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E36560F-BDD8-442C-8035-0E5A2A11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92024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F6FEB"/>
                </a:solidFill>
              </a:rPr>
              <a:t>Organisation A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11A4B2E-366F-4BD6-A3E6-3A3213BA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2024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8A0AE"/>
                </a:solidFill>
              </a:rPr>
              <a:t>Organisation B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54CA7F5-9C35-47C0-B947-85C0EB0E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1828800"/>
            <a:ext cx="0" cy="3246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A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BC08DE1-3326-4077-A2AD-BD8A0BD8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487168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E57C532-DFA1-4931-A78F-7599D777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578608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Benutzer</a:t>
            </a:r>
            <a:endParaRPr sz="8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ECF7B10-3778-4E43-B601-4C156EC7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87168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D9B2922-229A-4187-B4DB-E43D7972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578608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Benutzer</a:t>
            </a:r>
            <a:endParaRPr sz="8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E372A7AC-0557-42C2-8ADC-F3FE3CFF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017520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C64AD44-256A-481E-8087-5F0A4C34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108960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Kurse</a:t>
            </a:r>
            <a:endParaRPr sz="8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BEF2F26-E600-48DA-8707-38C2593E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17520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6D55668-D898-4200-B5CB-E05706F0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108960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Kurse</a:t>
            </a:r>
            <a:endParaRPr sz="8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81B5309-BBCC-4789-A3BD-19A12CC7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547872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1DC0102-3E67-462E-BE87-2EAD06BD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639312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Prüfungen</a:t>
            </a:r>
            <a:endParaRPr sz="8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86B2BD92-04EC-4190-9F0C-CA4B349A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7872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F873F43F-F08D-4E4D-8C68-9431FF34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639312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Prüfungen</a:t>
            </a:r>
            <a:endParaRPr sz="8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6D90602C-46C2-4F8C-B359-1ED66FD6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078224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3744317F-B152-446F-83B6-F314FF85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169664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Branding</a:t>
            </a:r>
            <a:endParaRPr sz="8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540FEA37-2680-4AD5-BD78-7473B18F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78224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D1C256E5-4489-4232-81F2-4E40AA8D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169664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Branding</a:t>
            </a:r>
            <a:endParaRPr sz="85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629B55E4-FB01-4606-9C67-E42832AC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608576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1EF2B3BC-442E-45A7-B03A-25E1E7F4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700016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SMTP</a:t>
            </a:r>
            <a:endParaRPr sz="8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FD2D79C7-98A7-4D98-8648-7E9F969D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08576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FFAEAB2A-7A8C-4270-8A65-A600EDC5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00016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SMTP</a:t>
            </a:r>
            <a:endParaRPr sz="85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24DCB10A-9D3C-44FD-90BD-59B1390D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3218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72B3A"/>
                </a:solidFill>
              </a:rPr>
              <a:t>Daten und Konfigurationen werden organisationsbezogen modelliert.</a:t>
            </a:r>
            <a:endParaRPr sz="95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2FB7B845-A63B-482B-AD1A-23043BF7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5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28E21A9-CE77-48E7-A9BD-282A123A11D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9747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4CC4A8-1892-4B5B-8149-45741ED2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3 · Funktions- und Architekturübersicht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895F5C-CE14-4CE5-A79E-60C67DEC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Modularer Django-Monolith: überschaubar im Betrieb, klar getrennt nach Domänen.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9A629F5-7C5F-4E48-8E17-20C81663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554480"/>
            <a:ext cx="98755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8D9F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30F0C1-5DD1-4AD8-9D5D-6AC65075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719072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F6FEB"/>
                </a:solidFill>
              </a:rPr>
              <a:t>Browser / Nutzer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F77798-C163-4447-AD45-98BF9CDA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719072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B3A"/>
                </a:solidFill>
              </a:rPr>
              <a:t>Responsive Web-Oberfläche · Rollenbasierte Navigation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95DD0AC-F4BA-4570-824A-A23CA411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28600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AB8C6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2391D7D-C3E2-4824-9560-7579F439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33472"/>
            <a:ext cx="98755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EDF7F8"/>
          </a:solidFill>
          <a:ln xmlns:a="http://schemas.openxmlformats.org/drawingml/2006/main" w="12700">
            <a:solidFill>
              <a:srgbClr val="C2E3E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67B6C4D-2EB8-453C-BA21-8F774F7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798064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8A0AE"/>
                </a:solidFill>
              </a:rPr>
              <a:t>Django Application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118F65-3D5C-42AA-B6A2-F5639F6F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798064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B3A"/>
                </a:solidFill>
              </a:rPr>
              <a:t>Accounts · Organisations · Courses · Exams · Certificates · Payments · Security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A4B3B5-263F-42F7-B844-A05C7FA9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364992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AB8C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260FAEB-2562-4ABD-99A5-9409AA01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12464"/>
            <a:ext cx="98755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0AD980-3D11-4699-B49E-86450B99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877056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Daten &amp; Dateien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D84958E-1AA2-473C-B54D-F67F650D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877056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B3A"/>
                </a:solidFill>
              </a:rPr>
              <a:t>SQL-Datenbank · Media Storage · optional S3-kompatibler Storage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74BEF7C-176A-4441-B9A9-777E6EB6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443984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AB8C6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C4153B4-F44F-435F-98A8-2C1B0E3B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791456"/>
            <a:ext cx="98755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2700">
            <a:solidFill>
              <a:srgbClr val="F6C89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B8E3D81-D994-48FC-AFE6-F7E0BC7B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5604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28C28"/>
                </a:solidFill>
              </a:rPr>
              <a:t>Infrastruktur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A68C7D3-2375-41FF-B518-F91034F3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956048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B3A"/>
                </a:solidFill>
              </a:rPr>
              <a:t>Linux oder Windows · Reverse Proxy/TLS · eigener SMTP · Self-Hosting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F14268D-D178-422A-B7BD-D3F5B403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80644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B2A4A"/>
                </a:solidFill>
              </a:rPr>
              <a:t>Architekturprinzip</a:t>
            </a:r>
            <a:endParaRPr sz="1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7400908-BD7D-4C71-B082-9E7913D8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7296"/>
            <a:ext cx="8412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Domänenmodule teilen Authentifizierung, Datenbank und Deployment – das reduziert Betriebsaufwand und erleichtert Self-Hosting.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C4E9AE5-97C4-4F26-8FE5-03A8A9C5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0DEBB48-512B-4265-9A96-054501F449B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3519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AEEF4F-1637-49BF-AADC-55C23CF5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4 · Technisches Konzept: Self-Hosting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F09821-9B11-4DE5-9924-4FB5BC18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Betrieb auf eigener Infrastruktur – mit konfigurierbarer Datenbank und Storage.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E9A055B-F5E3-4600-843F-798F2EA9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33756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FE4EF58-5AC6-474F-8069-D4B08750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B12F767-DA34-4714-9CEB-898A29F4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1368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Deployment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80D1F9-2073-4D3A-A3CC-9E36A708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2848"/>
            <a:ext cx="2898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Installationsskripte für Linux und Windows sind im Projekt vorhanden. Konfiguration erfolgt über Umgebungsvariablen.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FC9476F-AFA4-4F6F-A0ED-CE5EAA0E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600200"/>
            <a:ext cx="333756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FE7D3B2-0632-41D2-87BE-F8DA3036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60020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C2B7C78-D1E4-4EED-9558-40D52A81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01368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Datenbank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91BB153-18C0-4CA0-AA7B-BB090F77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12848"/>
            <a:ext cx="2898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Produktionskonfiguration sieht PostgreSQL als Standard sowie MySQL, MSSQL und MongoDB-Backend vor.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1338CF6-1BEB-42B7-B1AA-1AA951C5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600200"/>
            <a:ext cx="333756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A28A10D-033C-4372-A9C2-507000AC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60020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224541-25B7-46CA-9656-5C800BF9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801368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Dateispeicher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514BC5B-F659-4184-ADB3-F2250A69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212848"/>
            <a:ext cx="2898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Lokaler Media-Speicher ist vorgesehen; optional kann S3-kompatibler Storage über django-storages genutzt werden.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A832A28-DC51-459E-AA56-F0C8794C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862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Typisches Betriebsmodell</a:t>
            </a:r>
            <a:endParaRPr sz="15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81ADFA8-F8B1-45B4-9202-CCD55C15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2D877E0-E6CA-4FE4-B8D7-6EB54D5A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B3A"/>
                </a:solidFill>
              </a:rPr>
              <a:t>Internet / Intranet</a:t>
            </a:r>
            <a:endParaRPr sz="9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C46FF0C-5811-4C74-BA29-5A495A98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4754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D78C6FD-6CC7-4638-B232-81A5B931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31A5D9B-45F0-4EA2-86ED-6D5F6344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B3A"/>
                </a:solidFill>
              </a:rPr>
              <a:t>TLS / Reverse Proxy</a:t>
            </a:r>
            <a:endParaRPr sz="9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657F81C-7EF1-48D7-8496-660AF761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754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6C8BB80-3B8F-4E65-A4E1-9DAA8B23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2F917C5-0035-4A6C-8BFB-95320D83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AboroLMS</a:t>
            </a:r>
            <a:endParaRPr sz="9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295AE34-2EA7-43B6-BF1D-C3EBC6B5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754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0A07F3C-2CC1-46DB-8C5B-32F495EF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EC7A7AB-5B39-4DA3-9C22-408BCF36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B3A"/>
                </a:solidFill>
              </a:rPr>
              <a:t>SQL-Datenbank</a:t>
            </a:r>
            <a:endParaRPr sz="9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57EFD68-7FE2-4548-9BA6-376F56B6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754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0045C14-41A6-41BB-890A-F093D92E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3F05D9C-DD9E-4212-9280-70445457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B3A"/>
                </a:solidFill>
              </a:rPr>
              <a:t>Media / S3</a:t>
            </a:r>
            <a:endParaRPr sz="9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F29D6E1-6582-48E2-94D8-111F5461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86400"/>
            <a:ext cx="6263640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2700">
            <a:solidFill>
              <a:srgbClr val="B7DFC2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DAB79A2-718F-49CE-9FC1-2541AB56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41848"/>
            <a:ext cx="5806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F6332"/>
                </a:solidFill>
              </a:rPr>
              <a:t>Nutzen: Datenstandort, Backup-Strategie und Zugriffswege bleiben unter Kontrolle des Betreibers.</a:t>
            </a:r>
            <a:endParaRPr sz="10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7610AAF-34EC-414E-86CC-CBBB9BBF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3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18873D1-C5B6-4146-9EC8-373A53537CB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55554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534546-C380-4ABA-B160-7888337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Datenschutz &amp; technische Sicherheitsbausteine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1ECE34-8371-45D3-A3CA-861856CD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Self-Hosting schafft Kontrolle – Sicherheit entsteht zusätzlich durch konkrete Schutzmaßnahmen.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17F1A89-33C1-40CC-9672-4EEF78B1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507492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6F52334-E1C7-4A56-99AD-861A6722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23963E4-ED42-4795-8DF2-79B676A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01368"/>
            <a:ext cx="4663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Verschlüsselte Felder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13F369A-B445-4CB1-8762-DA48029F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12848"/>
            <a:ext cx="46360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Sensible Konfigurationsdaten wie SMTP-Passwort, Zahlungs-Provider-Secrets, IBAN und Notizen verwenden verschlüsselte Datenbankfelder.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2363691-303D-482A-B7C5-A909C459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07492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43971A6-6744-444F-A877-AEDA80F6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4B8C1B2-17E9-444B-9817-AD31299C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01368"/>
            <a:ext cx="4663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Web-Security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FD7AD4E-97A4-49A5-8FE4-47EA84AC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12848"/>
            <a:ext cx="46360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CSRF-Schutz, sichere Session-/CSRF-Cookies und HTTPS-Weiterleitung sind in der Produktionskonfiguration vorgesehen.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4FB1573-A647-4B47-A6D2-C1410617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507492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EC8177B-2BC9-4E39-93A2-F4B92E59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969EF74-5ECC-4C27-BFE9-2F6DD1A8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58768"/>
            <a:ext cx="4663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Rollen &amp; Organisationen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ACC0F99-85E3-48FF-B690-82149E87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70248"/>
            <a:ext cx="46360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Rollenmodell und organisationsbezogene Datenobjekte bilden die Grundlage für Zugriffstrennung und Least-Privilege.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552D37E-7C06-4539-855B-90E35110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657600"/>
            <a:ext cx="507492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0C843C3-D023-490F-AAD9-DD669D88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65760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251A301-5FA9-4451-B54A-9FC3B093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858768"/>
            <a:ext cx="4663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Nachvollziehbarkeit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85B7B8A-673B-4830-B0F8-FAAE58C8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70248"/>
            <a:ext cx="46360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AuditLog erfasst Akteur, Organisation, Aktion, Objekt und Metadaten für administrative bzw. zahlungsbezogene Vorgänge.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6243881-20DD-4B2B-AFEE-D97DFAD5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6440"/>
            <a:ext cx="10287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C0392B"/>
                </a:solidFill>
              </a:rPr>
              <a:t>Für einen Produktivbetrieb zusätzlich erforderlich: Datenschutzkonzept, Lösch-/Aufbewahrungsregeln, Backup/Restore-Tests, Rechteprüfung, Patchmanagement und dokumentierte TOMs.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BA66E8E-7712-486B-9672-236DD8E4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8697156-B497-468C-85B6-F8F542AB8F7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29434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71C08AA-E592-4535-9E0C-1061624C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Was ist daran innovativ?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BC00EB-77F3-4571-B51A-60DFE16B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Nicht ein einzelnes Feature – sondern die geschlossene Kette und die Betriebsfreiheit.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471F39-7B8A-49C4-8A7B-00A1D42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2468880" cy="333756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7588F3F-9E12-40E3-B8A7-553580F8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064" y="19659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7DC7209-1B75-46E8-8932-3FF8BB14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0848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6C318D4-D1FF-4DAC-B148-F33FFC9E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2B3A"/>
                </a:solidFill>
              </a:rPr>
              <a:t>Durchgängigkeit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C2FAB43-0B03-42D1-8187-9316D36E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46120"/>
            <a:ext cx="1920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07286"/>
                </a:solidFill>
              </a:rPr>
              <a:t>Lerninhalt → Fortschritt → Prüfung → Bewertung → Zertifikat → Verifikation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68D5D44-20BE-4B9D-AD66-F0DF37A3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45920"/>
            <a:ext cx="2468880" cy="333756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2AAE2E9-27C3-4B05-97E8-D9A77502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19659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7217B06-DC20-4F06-B187-1E2A21BA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0848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2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21113F-0CAE-4551-B431-5DDD7851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6974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2B3A"/>
                </a:solidFill>
              </a:rPr>
              <a:t>Datenhoheit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3912A1A-4DDF-417A-979D-45B33CFD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246120"/>
            <a:ext cx="1920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07286"/>
                </a:solidFill>
              </a:rPr>
              <a:t>Self-Hosting statt zwingender Bindung an eine externe SaaS-Plattform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4193507-DA51-43D6-9415-EBB4183E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45920"/>
            <a:ext cx="2468880" cy="333756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5646294-1FA3-42B6-8BDF-9F71FD83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19659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7C702D8-4D45-430F-AF62-D8034D64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848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3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E6152E7-2BC3-452E-9402-4C654F17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974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2B3A"/>
                </a:solidFill>
              </a:rPr>
              <a:t>Mandantenfähigkeit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54C63F2-F304-4BA1-9C36-455149A7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46120"/>
            <a:ext cx="1920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07286"/>
                </a:solidFill>
              </a:rPr>
              <a:t>Mehrere Organisationen mit eigenen Rollen, Branding, Startseiten und SMTP-Einstellungen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88E5C0F-A603-4C52-90C5-68B6C6D4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645920"/>
            <a:ext cx="2468880" cy="333756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F2E2FDA-0C41-4F31-9612-8B2F1E5A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19659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901556F-7D3D-49D4-B1FE-21440979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848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4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49EDC02-F85F-4B90-BBCD-1ECB23BB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6974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2B3A"/>
                </a:solidFill>
              </a:rPr>
              <a:t>Geschäftsmodell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D5287F9-39CC-4FC0-A59A-AC54F190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46120"/>
            <a:ext cx="1920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07286"/>
                </a:solidFill>
              </a:rPr>
              <a:t>Kostenlose und kostenpflichtige Kurse, Plattformgebühr und Traineranteil in derselben Lösung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5D1CCFC-FDD7-458C-93AD-E611B389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49240"/>
            <a:ext cx="8503920" cy="54864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9B8417C-C20A-4E71-8904-3BB87807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522976"/>
            <a:ext cx="7863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</a:rPr>
              <a:t>AboroLMS</a:t>
            </a:r>
            <a:r>
              <a:rPr sz="1250" b="1">
                <a:solidFill>
                  <a:srgbClr val="FFFFFF"/>
                </a:solidFill>
              </a:rPr>
              <a:t> macht aus E-Learning einen kontrollierbaren, überprüfbaren Qualifikationsprozess.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751BBCF-F9CE-462E-8B88-7569B6E3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2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5E29DCE-8511-4CEC-A02C-9D6274E82A5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26673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2FB9CE-10AF-47DF-BBAD-543FCC65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Vom Prototyp zur produktiven Lösung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FD7F997-F4A3-4FC3-8A61-A1CBE776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Die Basis ist vorhanden – die nächste Phase fokussiert Härtung, Pilotierung und Skalierung.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E125231-DE8C-4166-964E-8EECD623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210312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FDF0845-2E66-4B7E-ACB1-53E8AB43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64792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Heute · Prototyp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9738985-4089-4332-B0EF-CBE74FFB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554480"/>
            <a:ext cx="809244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0BA2356-35E3-49CF-9C48-A2A378B1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00784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B3A"/>
                </a:solidFill>
              </a:rPr>
              <a:t>Domänenmodelle, Rollen, Kurse, Lernpfade, Prüfungen, Zertifikate, Payments, Organisationen, Security-Bausteine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72B2692-0DD2-483C-8477-01B2393D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51760"/>
            <a:ext cx="210312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32B3C14-E5E3-48F4-A68A-62CFBDF5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62072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Phase 1 · Produktreife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B60D5B5-BBE6-4099-B0C7-DF0DE5DB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651760"/>
            <a:ext cx="809244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0BD2793-CF9C-4F8B-87D8-BF861BE9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98064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B3A"/>
                </a:solidFill>
              </a:rPr>
              <a:t>End-to-End-Tests, Berechtigungsreview, UX-Feinschliff, produktive Payment-Anbindung, Dokumentation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E15B3F5-A2F3-4AD2-A51E-C10DF947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49040"/>
            <a:ext cx="210312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F5B8987-12AD-4A6A-94D8-E041DBFA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59352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Phase 2 · Pilot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337F440-7C3B-422A-A007-0D9AB524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749040"/>
            <a:ext cx="809244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20DFE7D-DDCE-4101-AA7E-BC032141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95344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B3A"/>
                </a:solidFill>
              </a:rPr>
              <a:t>1–3 Organisationen, reale Lernpfade, Zertifikatsprozess, Feedback, Betriebs- und Supportprozesse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664210A-0A51-4C3C-8D6D-6585A6BE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46320"/>
            <a:ext cx="210312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E784EB0-4058-423B-94F6-B58B7C24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56632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Phase 3 · Skalierung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A41907F-38CF-4C74-82C3-76734177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846320"/>
            <a:ext cx="809244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44B8A04-DE05-41CA-B810-C685B75F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92624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B3A"/>
                </a:solidFill>
              </a:rPr>
              <a:t>Standardisiertes Deployment, Monitoring, Integrationen, Reporting, Vertrieb/Partner-Modell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A0EB175-692A-4B17-85D3-779245CE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704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B2A4A"/>
                </a:solidFill>
              </a:rPr>
              <a:t>Empfohlener Innovationsnachweis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09C855F-0E3F-4C80-8F66-33E2EFA0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852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Pilotprojekt mit messbaren Kennzahlen: Abschlussquote · Prüfungsquote · Verwaltungszeit · Zertifikatsverifikation · Nutzerfeedback.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81BAD0A-36C8-4FBA-B644-638AF00E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</a:t>
            </a:r>
            <a:r>
              <a:rPr sz="750">
                <a:solidFill>
                  <a:srgbClr val="8795A5"/>
                </a:solidFill>
              </a:rPr>
              <a:t>AboroLMS</a:t>
            </a:r>
            <a:r>
              <a:rPr sz="750">
                <a:solidFill>
                  <a:srgbClr val="8795A5"/>
                </a:solidFill>
              </a:rPr>
              <a:t>-Prototyps (Django-Projekt)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2847B5E-3259-4A73-961E-8FD517B38FD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8139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3FA5DAD-6FD2-43CD-98F3-531781F0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94C568-32C2-44CF-94BC-F610330E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88720"/>
            <a:ext cx="3200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</a:rPr>
              <a:t>AboroLMS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FDCF1EF-5656-453C-BF36-88F4ED8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11680"/>
            <a:ext cx="7955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D8E8F7"/>
                </a:solidFill>
              </a:rPr>
              <a:t>Eine Plattform für den vollständigen Qualifikationsprozess.</a:t>
            </a:r>
            <a:endParaRPr sz="2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B1DD0B1-55C5-44AC-AFBA-CD318E0F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468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8FC5FF"/>
                </a:solidFill>
              </a:rPr>
              <a:t>Lernen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F562D98-0D8A-44D7-A9B3-BD9991DB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1546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7E9BB5"/>
                </a:solidFill>
              </a:rPr>
              <a:t>→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BAD0C67-E315-4234-8CDB-D46B6F8B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15468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D09A"/>
                </a:solidFill>
              </a:rPr>
              <a:t>Prüfen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A5E6FD6-CE61-4125-9E85-49C587A2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1546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7E9BB5"/>
                </a:solidFill>
              </a:rPr>
              <a:t>→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FCC4211-6772-4D94-9A11-48909354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15468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A7E5B6"/>
                </a:solidFill>
              </a:rPr>
              <a:t>Zertifizieren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8FAB807-914A-490C-BA55-E7F87A9E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1546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7E9BB5"/>
                </a:solidFill>
              </a:rPr>
              <a:t>→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8625627-DD28-4982-8BEC-64B128ED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5468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DE1E5"/>
                </a:solidFill>
              </a:rPr>
              <a:t>Verifizieren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B2A0C52-E18B-4E85-82DB-01617E1D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17720"/>
            <a:ext cx="7772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FC9DF"/>
                </a:solidFill>
              </a:rPr>
              <a:t>Self-hosted · Mandantenfähig · Erweiterbar · Datenhoheit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640942E-78E1-4FC2-9C48-484BBB16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97880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7899B5"/>
                </a:solidFill>
              </a:rPr>
              <a:t>Grundlage: vorhandener </a:t>
            </a:r>
            <a:r>
              <a:rPr sz="950">
                <a:solidFill>
                  <a:srgbClr val="7899B5"/>
                </a:solidFill>
              </a:rPr>
              <a:t>AboroLMS</a:t>
            </a:r>
            <a:r>
              <a:rPr sz="950">
                <a:solidFill>
                  <a:srgbClr val="7899B5"/>
                </a:solidFill>
              </a:rPr>
              <a:t>-Prototyp, Stand des bereitgestellten Projektarchivs</a:t>
            </a:r>
            <a:endParaRPr sz="9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C8B806C-3CEA-4CAE-8662-0C4CF69DD0D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23001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39ADA4-367A-4E40-B05C-982E0B90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2B4F5-12B1-4EAD-A99A-1F6EB388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AboroLMS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6DEEF-97C9-4421-9E0E-3F1DCEE4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Aktueller Stand nach lokaler Prüfung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B5320-67FA-4591-95BB-5B9C29F2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Der Prototyp wurde lokal gehärtet und für den nächsten Produktionscheck vorbereitet.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2DFC0-E41A-434B-A74E-2552FAEA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B8596-3D9C-44DA-B508-ACCBA936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924F6-EBAD-4C00-8B1B-02F1F2AE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142B1-0A3C-45DB-85B7-5512E251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824A3-9307-445E-AB61-547CAC2C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53 + 4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096AA-CF3E-4140-A093-DDDC3284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Tests bestanden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AA033-A013-42C1-A9DE-7F87E546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954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17E59-9796-4152-8263-7B0AFC2D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95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8B591-8F06-4C3E-BC09-D76CDFB4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24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F7CF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7CF6"/>
                </a:solidFill>
                <a:latin typeface="Aptos"/>
                <a:ea typeface="Aptos"/>
                <a:cs typeface="Aptos"/>
              </a:rPr>
              <a:t>Payment aus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32EAE-F6F8-492C-AE07-E3873E60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860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Standard für neue Käufe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3A935-3B2E-4F28-9851-15106788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954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B9937-C449-4095-AE42-E4AACADC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95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6A6"/>
          </a:solidFill>
          <a:ln xmlns:a="http://schemas.openxmlformats.org/drawingml/2006/main" w="0">
            <a:solidFill>
              <a:srgbClr val="12A6A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A7BF3-0C9E-4258-9783-AE52F975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24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2A6A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2A6A6"/>
                </a:solidFill>
                <a:latin typeface="Aptos"/>
                <a:ea typeface="Aptos"/>
                <a:cs typeface="Aptos"/>
              </a:rPr>
              <a:t>Super-Admin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1FB6E-CA60-449F-8EF8-AB42037A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860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kann wieder aktivieren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316A1-3E2C-4B33-BC66-4134655D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954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FC844-34B7-401A-97D1-813607FD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95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57824-10EB-4E00-9611-59005D0E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24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lokal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5160F-B90A-435D-A06D-77E26164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860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vor dem Online-Gang getestet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2058B-F6F6-4603-8E75-A488F33B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9545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476AED-5D36-4386-9C86-6AE13FF6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954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BDA6F-3F33-452D-BE8D-9FD2B6E5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240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92EAD1-06A5-425D-821D-94A86187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860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Fehlerbericht-Tests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6C5AE1-9E8A-4A62-981E-34E44D14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3162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343129-7DF0-4AEF-9834-AB74D739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4AAB94-5611-4253-A963-BC902212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Behoben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A6A03A-EAFC-46C8-B318-D4640B04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896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Trainerzugriffe sind rollenbezogen abgesichert. Fremde Organisationen und inaktive Trainer erhalten keinen Bearbeitungszugriff.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B5EBA6-54E6-463B-A518-109071DF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5C107C-A61D-4237-ACF2-B71D809B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DE06C7-4450-4504-9088-69FC2050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33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Geprüft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D9EBB6-E2D0-4CBB-BA6A-C9623ECD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719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Checkout, Dashboard, CSRF-Verhalten, Produktions-Smoke-Tests und Browserpfade wurden lokal kontrolliert.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9A3EF8-3AFB-43BA-B1FC-05C8494C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3162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1617A8-21B0-433F-B686-44E6FA75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DF78CF-C019-484A-AD9E-D05C20B9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Dokumentiert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96BBCB-812E-4EA5-AAE6-4B591668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719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Die Produktionsprüfung steht als eigene Datei im Projekt und benennt offene Punkte für den echten Serverbetrieb.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A9670F-5412-45CF-AB53-57EDA841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6FCFA9-097E-4227-8DA6-53DAAB41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29275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Fazit: Der Code ist lokal vorzeigbar, aber der echte Produktivgang braucht noch Zielserver, echte Secrets und Betriebsentscheidungen.</a:t>
            </a:r>
          </a:p>
        </p:txBody>
      </p:sp>
    </p:spTree>
    <p:extLst>
      <p:ext uri="{BB962C8B-B14F-4D97-AF65-F5344CB8AC3E}">
        <p14:creationId xmlns:p14="http://schemas.microsoft.com/office/powerpoint/2010/main" val="12704165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4F956E-4A18-4BEC-9B72-AD3E7FAC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AE7A9-6A72-48D6-B5FF-A49781CE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AboroLMS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BC1EA-27B6-457A-A1B5-2E903361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Produktionsprüfungen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9B1FA-CAFF-4EAB-A06E-A0EC5102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Die lokale Prüfung trennt Codequalität von den noch fehlenden Serverentscheidungen.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7C94A-4198-47D3-9660-1D274223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99A3A-351E-4AC7-9E2C-07C81F3D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B0244-42B4-4D7D-B8BB-17FEDB23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933DA-A710-4D24-9215-E85B610F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0CC93-2BAF-42D5-9D5C-B0F39F79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Lokal erledigt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C6540-48A3-4AD0-92D1-1C055C19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555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Django-Checks, Migration-Check, Browser-Smoke-Test, Payment-Schalter, Berechtigungen und sicherheitsrelevante Regressionstests.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6F02E-1919-4F86-9C2A-6A5EE406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764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EF015-FFB7-4232-A651-54A50E74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764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271CD-7885-4B4B-A5EC-6F742EDE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66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Produktionsmodus simuliert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492F5-5633-4EC4-B360-C67B243D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05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Ein isolierter Produktions-Smoke-Test läuft mit temporärer Datenbank, aktivem HTTPS-Verhalten und echten CSRF-Regeln.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D80C7-BCD7-4E5D-BF92-104FAFCA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62515-DC55-4D75-9727-42AA44FB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9CE60-D204-452C-B0F1-6AEE81A1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66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Noch extern abhängig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AFC4A-4FAA-4FA9-B7F6-AC63F242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959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Domain, Datenbank, SMTP, S3 oder lokaler Media-Speicher, Backup-Konzept, TLS/Proxy und Serverpfade müssen am Zielsystem geprüft werden.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65096-1101-4215-B888-3D09C767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Offene Produktionsentscheidungen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381A0-FB11-452B-97CC-8E9355AF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E6D0F-E3A8-45B0-B947-FC30347C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24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Private Kursmedien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C0486-8DE0-4241-A0D8-7987AE17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243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06477"/>
                </a:solidFill>
                <a:latin typeface="Aptos"/>
                <a:ea typeface="Aptos"/>
                <a:cs typeface="Aptos"/>
              </a:rPr>
              <a:t>Media-Dateien brauchen vor dem Livegang eine geschützte Auslieferung.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BB1DB0-20A1-4EAB-95A9-C495B4C2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6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D5579F-832C-4D1B-B391-61366F6B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24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Einladungen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DA4C2-91B8-415F-A7C1-0FB2B598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06477"/>
                </a:solidFill>
                <a:latin typeface="Aptos"/>
                <a:ea typeface="Aptos"/>
                <a:cs typeface="Aptos"/>
              </a:rPr>
              <a:t>Die vorhandene Einladungserstellung verschickt noch keine produktiven E-Mails.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B89163-25C3-4A3B-8AE0-E7A1DAC6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62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0874B4-0646-4773-AFE8-FBC323FA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Datenbankbetrieb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804FA8-BB2D-43E3-9BB8-9C06E93E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24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06477"/>
                </a:solidFill>
                <a:latin typeface="Aptos"/>
                <a:ea typeface="Aptos"/>
                <a:cs typeface="Aptos"/>
              </a:rPr>
              <a:t>Rechnungsnummern, Nebenläufigkeit und Restore-Prozesse am Zielsystem testen.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622A11-1124-47CD-B44E-A2EC742A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3B111C-32E5-4961-BF82-48407A66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24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Recht &amp; Betrieb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DE6B8B-D9F1-4CB9-8C28-EA214D6E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24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06477"/>
                </a:solidFill>
                <a:latin typeface="Aptos"/>
                <a:ea typeface="Aptos"/>
                <a:cs typeface="Aptos"/>
              </a:rPr>
              <a:t>Datenschutz, Aufbewahrung, TOMs, Supportwege und Zahlungsrecht final klaren.</a:t>
            </a:r>
          </a:p>
        </p:txBody>
      </p:sp>
    </p:spTree>
    <p:extLst>
      <p:ext uri="{BB962C8B-B14F-4D97-AF65-F5344CB8AC3E}">
        <p14:creationId xmlns:p14="http://schemas.microsoft.com/office/powerpoint/2010/main" val="11584273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D880D4-5B8E-487C-A52C-5D04F5EA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FEDDB-6274-42AE-8C37-82FC18DD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AboroLMS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67A01-EF06-4F6E-A74C-0DD738B2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Payment-Schalter für Super-Admins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C16D9-1F51-4DBE-925E-9B7CA79C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Neue Zahlungen bleiben deaktiviert, bis ein berechtigter Super-Admin sie bewusst freigibt.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C6F78-54E4-43F5-BD45-DBCCA43F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717DA-C11E-4C3E-89F9-9E338B59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13743-EB22-4785-9CAF-38D0021B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3000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AE22D-3FFE-4A47-8DCD-920BD47E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C0392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636E7-A525-4733-86B3-AC4A8E2A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2562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Standardzustand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D95A3-F587-4BAD-9B78-3B07C2DA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2543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payment_aktiv steht standardmäßig auf AUS. Neue kostenpflichtige Einschreibungen erzeugen keine Zahlung, solange der Schalter deaktiviert ist.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7840A-E5C7-4364-B1A9-2D8A146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2543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Bestehender Zugriff bleibt erhalten.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9A76A-D88A-45D7-A0FC-544C6551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3000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D2D2A-253C-4391-82FB-FA681F03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5F66E-D78B-4EC0-B585-FF8E1E2E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85950"/>
            <a:ext cx="2562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Reaktivierung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60090-462A-43AD-B5A5-5AF34D06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24100"/>
            <a:ext cx="2543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Super-Admins erreichen die Einstellung über das Superadmin-Menü und können Zahlungen für neue Käufe wieder aktivieren.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783AF-1917-4694-A7EF-31C001C2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71850"/>
            <a:ext cx="2543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Die Änderung wird im AuditLog erfasst.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293C8-9307-43CB-84EA-FCFCC97A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3000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37A01-D402-4257-A8D6-894425BE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B24C7-5047-4418-89EF-8EF72732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85950"/>
            <a:ext cx="2562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Betriebslogik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C0ED8-BC01-4A67-9F2A-60437680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2543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Demo-Zahlungen bleiben an DEBUG gebunden. Online-Provider werden in Produktion nicht automatisch freigegeben.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99B5A-0D16-44B6-8521-19660C74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2543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Provider-Secrets bleiben separat zu konfigurieren.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F28F1-74C2-4A83-97A9-D27E58F9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9410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8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8CEED-AE0B-4182-A532-D0639D33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48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Praktischer Nutzen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CEB1F8-0C82-4449-9195-0064DED5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29150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02033"/>
                </a:solidFill>
                <a:latin typeface="Aptos"/>
                <a:ea typeface="Aptos"/>
                <a:cs typeface="Aptos"/>
              </a:rPr>
              <a:t>Die Plattform kann lokal und später online geprüft werden, ohne dass versehentlich echte Käufe oder Demo-Bestätigungen durchlaufen.</a:t>
            </a:r>
          </a:p>
        </p:txBody>
      </p:sp>
    </p:spTree>
    <p:extLst>
      <p:ext uri="{BB962C8B-B14F-4D97-AF65-F5344CB8AC3E}">
        <p14:creationId xmlns:p14="http://schemas.microsoft.com/office/powerpoint/2010/main" val="3393249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21ED1B-80A2-40A3-AD21-DFA5AAC3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33310-DA31-46C3-BE75-AB381683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AboroLMS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469A0-3301-4C12-A39C-EF2D235C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Tatsächlicher Entwicklungsaufwand seit Februar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6EEF1-BCE0-400E-9F28-D9102665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Die Bewertung basiert auf Freizeitentwicklung von Februar bis 10.09.2026 mit 3 bis 4 Stunden pro Tag.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10D5D-E038-4DF5-A21E-D5EF7917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4BFB3-2A13-4D40-A658-896E98C6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4A799-6289-4A4B-B57B-ACFEA57B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Zeit- und Wertannahmen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9A91F-1EB6-47C8-ADDA-3F62B524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1E07F-8A95-4F46-AD85-4DE10BA2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Zeitraum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0B735-6EE7-45F2-8276-2B7C2265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47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Februar bis 10.09.2026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C7E52-788F-4D1E-8ED9-9AA90670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8E25E-F852-4A30-B59E-512723B5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Arbeitsrhythmus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AE92E-E6EE-4D8F-BB7C-F16A644A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43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3 bis 4 h pro Tag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571B1-39A0-4258-B590-81A4DEE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54573-D035-41E0-8CA8-7B8FACB6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Kalendertage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77E65-BDC8-42FF-8A4E-F92688DC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38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222 Tage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999C7-FEE6-4C25-8E5F-9B1ACF13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4AA0F-E81A-42E9-8E53-74AF13F2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Geschätzter Entwicklungsaufwand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889AA-FC33-40ED-BB9C-E17575AC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666 bis 888 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CE6579-D9E5-4EE8-9051-78A4FA59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047A1D-31BD-4FB0-99E4-0512BF6F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Referenzsatz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7E70D4-0309-4B0C-B3E9-5A10CF1F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291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103 EUR pro Stunde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144D8-193D-43B3-9EE8-E005C833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8514A-B600-430C-8C73-CDFC9681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Wiederbeschaffungswert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5EEC43-93D4-4A2D-B3BB-CB45FB02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244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68.598 bis 91.464 EUR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E6B240-03B3-4FCF-8840-6A0282D4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57400"/>
            <a:ext cx="3143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C90F4-5FF7-49B0-B1B9-70B4A4DE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666 bis 888 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1E70B5-A50E-44E4-A5F0-B30A9C5F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CFE0F5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CFE0F5"/>
                </a:solidFill>
                <a:latin typeface="Aptos"/>
                <a:ea typeface="Aptos"/>
                <a:cs typeface="Aptos"/>
              </a:rPr>
              <a:t>bei 103 EUR pro Stunde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FB076C-F952-42BA-8624-6614FF28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7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68.598 bis 91.464 EUR netto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8D0AC7-AC8B-43D5-8BC3-E0CF0F9A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38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238">
                <a:solidFill>
                  <a:srgbClr val="506477"/>
                </a:solidFill>
                <a:latin typeface="Aptos"/>
                <a:ea typeface="Aptos"/>
                <a:cs typeface="Aptos"/>
              </a:rPr>
              <a:t>Die Rechnung macht sichtbar, welcher Aufwand seit Februar in der Freizeit entstanden ist. Sie stärkt die Preisbegründung, ersetzt aber keine Buchhaltung.</a:t>
            </a:r>
          </a:p>
        </p:txBody>
      </p:sp>
    </p:spTree>
    <p:extLst>
      <p:ext uri="{BB962C8B-B14F-4D97-AF65-F5344CB8AC3E}">
        <p14:creationId xmlns:p14="http://schemas.microsoft.com/office/powerpoint/2010/main" val="8266931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E0E96-F359-488C-8936-CEB76524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7F2AE-288D-4F9D-964D-AF3FB503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AboroLMS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D2B6F-0CF8-4F35-B31B-19372110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Verkauf des kompletten Codes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5AB61-43A8-415D-B10F-62B996F9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Der Preisrahmen leitet sich aus dem dokumentierten Freizeitaufwand und den offenen Produktivrisiken ab.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42106-BF26-4C04-B6EC-A1F99A7C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3CE65-6937-405B-B36E-F910F133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A7C61-32EB-4F03-9B66-21327C0B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3048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FDA3E-F2A4-4BA4-B919-99BFA2FD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133E2-812F-4AA4-83D6-52A002AD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Aktueller Codeverkauf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6255B-D458-4272-9DAC-DEBC5FC4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30.000 bis 45.000 EUR netto für eine exklusive Codeübergabe mit bekannter Restarbeit und ohne laufende Umsätze.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363EC-CE4D-4E4E-957E-925849DE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Verhandlungsanker: 39.500 EUR netto.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80C5C-76D0-4B00-AEF8-0B98C388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4A327-A94D-4AB0-97AA-C8A58421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0E7A3-9DC3-4E39-9F0E-B6BF898A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02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Nach Produktionshärtung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8CD1B-1DC4-4546-B3F5-BE7C0A89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3840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50.000 bis 75.000 EUR netto, wenn Zielserver, echte Payment-Anbindung, Medienzugriff, Backup und Übergabepaket fertig sind.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83528-F665-4AB3-8FCD-2A90919F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14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Stärker, sobald ein Pilot läuft.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51EFD-CB1C-48FB-84A6-B9B40430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048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58908-0AE7-4D28-A972-8CBEC99A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FC0AD-C0D2-4599-A8B4-4A66FB35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Vertraglich klären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D30BB4-BA05-4534-B729-E8DF77A4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3840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Exklusivität, Weiterverkauf, Nutzung alter Versionen, Drittanbieter-Lizenzen, Gewährleistung, Abnahme und Support separat regeln.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97513-76BB-4FA3-826D-AFDA6190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14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Anwaltlich prüfen lassen.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57CA4-3676-424A-81B2-56E5F243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C8D740-55AD-484C-A2CF-7DB50B58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9625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Empfehlung: 39.500 EUR netto als Anker setzen und Support, Installation sowie Anpassungen separat verkaufen.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F88563-228F-4C93-A975-1A0F3E51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Verkaufslogik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0B8201-0353-4A29-ACCB-513E560D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673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06477"/>
                </a:solidFill>
                <a:latin typeface="Aptos"/>
                <a:ea typeface="Aptos"/>
                <a:cs typeface="Aptos"/>
              </a:rPr>
              <a:t>Der Käufer zahlt für Zeitvorsprung, vorhandene Fachlogik und mehrere hundert Stunden Entwicklungsarbeit. Abschläge entstehen durch offene Produktivpunkte und noch nicht voll angebundene Payment-Provider.</a:t>
            </a:r>
          </a:p>
        </p:txBody>
      </p:sp>
    </p:spTree>
    <p:extLst>
      <p:ext uri="{BB962C8B-B14F-4D97-AF65-F5344CB8AC3E}">
        <p14:creationId xmlns:p14="http://schemas.microsoft.com/office/powerpoint/2010/main" val="13978215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2F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C2620-0E06-4E5A-8A03-6A44052E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08996-C3BD-47C2-BD1D-6D91562E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8C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5C8B0-03AA-4CA0-BA1E-684254CC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906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AboroLMS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5147A-4E50-4C1F-B17F-882CAF06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Aktueller Projektstand und Bewertungsrahmen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1F59F-A333-4C6E-BCBE-112AF3CC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D7E8F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D7E8FA"/>
                </a:solidFill>
                <a:latin typeface="Aptos"/>
                <a:ea typeface="Aptos"/>
                <a:cs typeface="Aptos"/>
              </a:rPr>
              <a:t>Produktionsprüfung lokal erledigt · Payment deaktiviert · Super-Admin kann aktivieren · Verkaufspreisrahmen vorbereitet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3814B-7E40-4958-AC4D-F7E2601C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72DAF-DF6A-456A-9B6C-811F7FC8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Nächster sinnvoller Schritt: Zielserver festlegen und die offenen Produktionspunkte gegen echte Infrastruktur prüfen.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33173-3AB8-4F0B-9096-3462FBD0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FFFFF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616508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2026-09-10T08:19:57.2720000Z</dcterms:created>
  <dcterms:modified xsi:type="dcterms:W3CDTF">2026-09-10T08:19:57.2720000Z</dcterms:modified>
</coreProperties>
</file>