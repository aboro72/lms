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efa25f63ae4bd7" /><Relationship Type="http://schemas.openxmlformats.org/officeDocument/2006/relationships/extended-properties" Target="/docProps/app.xml" Id="Rb53b3c2fca9c4720" /><Relationship Type="http://schemas.openxmlformats.org/officeDocument/2006/relationships/officeDocument" Target="/ppt/presentation.xml" Id="R5d29f926678b46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ecab19ddae49c3"/>
  </p:sldMasterIdLst>
  <p:notesMasterIdLst>
    <p:notesMasterId xmlns:r="http://schemas.openxmlformats.org/officeDocument/2006/relationships" r:id="R4772a4fe801c4500"/>
  </p:notesMasterIdLst>
  <p:sldIdLst>
    <p:sldId xmlns:r="http://schemas.openxmlformats.org/officeDocument/2006/relationships" id="256" r:id="R59fd132a97504efd"/>
    <p:sldId xmlns:r="http://schemas.openxmlformats.org/officeDocument/2006/relationships" id="257" r:id="R5ba3cdf47b8d40d1"/>
    <p:sldId xmlns:r="http://schemas.openxmlformats.org/officeDocument/2006/relationships" id="258" r:id="R5d4a9fe47a3046ef"/>
    <p:sldId xmlns:r="http://schemas.openxmlformats.org/officeDocument/2006/relationships" id="259" r:id="R42211d0f26d0477a"/>
    <p:sldId xmlns:r="http://schemas.openxmlformats.org/officeDocument/2006/relationships" id="260" r:id="Rc6708e73b8cf4f72"/>
    <p:sldId xmlns:r="http://schemas.openxmlformats.org/officeDocument/2006/relationships" id="261" r:id="R4e0638775f0049ff"/>
    <p:sldId xmlns:r="http://schemas.openxmlformats.org/officeDocument/2006/relationships" id="262" r:id="Rc374644dab464593"/>
    <p:sldId xmlns:r="http://schemas.openxmlformats.org/officeDocument/2006/relationships" id="263" r:id="Rd6e2c0424614402f"/>
    <p:sldId xmlns:r="http://schemas.openxmlformats.org/officeDocument/2006/relationships" id="264" r:id="R82255246d46e4ac7"/>
    <p:sldId xmlns:r="http://schemas.openxmlformats.org/officeDocument/2006/relationships" id="265" r:id="R5752d4ccfe7f4ee0"/>
    <p:sldId xmlns:r="http://schemas.openxmlformats.org/officeDocument/2006/relationships" id="266" r:id="Rb1789ff8a89a4c7a"/>
    <p:sldId xmlns:r="http://schemas.openxmlformats.org/officeDocument/2006/relationships" id="267" r:id="Re32804370a1a4d64"/>
    <p:sldId xmlns:r="http://schemas.openxmlformats.org/officeDocument/2006/relationships" id="268" r:id="R33194ff0bbfd4a76"/>
    <p:sldId xmlns:r="http://schemas.openxmlformats.org/officeDocument/2006/relationships" id="269" r:id="R2d483576c5b748ae"/>
    <p:sldId xmlns:r="http://schemas.openxmlformats.org/officeDocument/2006/relationships" id="270" r:id="R210212b2f5ca4308"/>
    <p:sldId xmlns:r="http://schemas.openxmlformats.org/officeDocument/2006/relationships" id="271" r:id="R011800d2bf84482a"/>
    <p:sldId xmlns:r="http://schemas.openxmlformats.org/officeDocument/2006/relationships" id="272" r:id="Racf4bdb7788b44db"/>
    <p:sldId xmlns:r="http://schemas.openxmlformats.org/officeDocument/2006/relationships" id="273" r:id="R5bfad1a9a7e646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93c4d3ded342ca" /><Relationship Type="http://schemas.openxmlformats.org/officeDocument/2006/relationships/slideMaster" Target="/ppt/slideMasters/slideMaster1.xml" Id="R67ecab19ddae49c3" /><Relationship Type="http://schemas.openxmlformats.org/officeDocument/2006/relationships/notesMaster" Target="/ppt/notesMasters/notesMaster1.xml" Id="R4772a4fe801c4500" /><Relationship Type="http://schemas.openxmlformats.org/officeDocument/2006/relationships/presProps" Target="/ppt/presProps.xml" Id="Rc322408470644b2e" /><Relationship Type="http://schemas.openxmlformats.org/officeDocument/2006/relationships/viewProps" Target="/ppt/viewProps.xml" Id="R22af676bdc454c98" /><Relationship Type="http://schemas.openxmlformats.org/officeDocument/2006/relationships/tableStyles" Target="/ppt/tableStyles.xml" Id="Ree79183488934d01" /><Relationship Type="http://schemas.openxmlformats.org/officeDocument/2006/relationships/slide" Target="/ppt/slides/slide1.xml" Id="R59fd132a97504efd" /><Relationship Type="http://schemas.openxmlformats.org/officeDocument/2006/relationships/slide" Target="/ppt/slides/slide2.xml" Id="R5ba3cdf47b8d40d1" /><Relationship Type="http://schemas.openxmlformats.org/officeDocument/2006/relationships/slide" Target="/ppt/slides/slide3.xml" Id="R5d4a9fe47a3046ef" /><Relationship Type="http://schemas.openxmlformats.org/officeDocument/2006/relationships/slide" Target="/ppt/slides/slide4.xml" Id="R42211d0f26d0477a" /><Relationship Type="http://schemas.openxmlformats.org/officeDocument/2006/relationships/slide" Target="/ppt/slides/slide5.xml" Id="Rc6708e73b8cf4f72" /><Relationship Type="http://schemas.openxmlformats.org/officeDocument/2006/relationships/slide" Target="/ppt/slides/slide6.xml" Id="R4e0638775f0049ff" /><Relationship Type="http://schemas.openxmlformats.org/officeDocument/2006/relationships/slide" Target="/ppt/slides/slide7.xml" Id="Rc374644dab464593" /><Relationship Type="http://schemas.openxmlformats.org/officeDocument/2006/relationships/slide" Target="/ppt/slides/slide8.xml" Id="Rd6e2c0424614402f" /><Relationship Type="http://schemas.openxmlformats.org/officeDocument/2006/relationships/slide" Target="/ppt/slides/slide9.xml" Id="R82255246d46e4ac7" /><Relationship Type="http://schemas.openxmlformats.org/officeDocument/2006/relationships/slide" Target="/ppt/slides/slide10.xml" Id="R5752d4ccfe7f4ee0" /><Relationship Type="http://schemas.openxmlformats.org/officeDocument/2006/relationships/slide" Target="/ppt/slides/slide11.xml" Id="Rb1789ff8a89a4c7a" /><Relationship Type="http://schemas.openxmlformats.org/officeDocument/2006/relationships/slide" Target="/ppt/slides/slide12.xml" Id="Re32804370a1a4d64" /><Relationship Type="http://schemas.openxmlformats.org/officeDocument/2006/relationships/slide" Target="/ppt/slides/slide13.xml" Id="R33194ff0bbfd4a76" /><Relationship Type="http://schemas.openxmlformats.org/officeDocument/2006/relationships/slide" Target="/ppt/slides/slide14.xml" Id="R2d483576c5b748ae" /><Relationship Type="http://schemas.openxmlformats.org/officeDocument/2006/relationships/slide" Target="/ppt/slides/slide15.xml" Id="R210212b2f5ca4308" /><Relationship Type="http://schemas.openxmlformats.org/officeDocument/2006/relationships/slide" Target="/ppt/slides/slide16.xml" Id="R011800d2bf84482a" /><Relationship Type="http://schemas.openxmlformats.org/officeDocument/2006/relationships/slide" Target="/ppt/slides/slide17.xml" Id="Racf4bdb7788b44db" /><Relationship Type="http://schemas.openxmlformats.org/officeDocument/2006/relationships/slide" Target="/ppt/slides/slide18.xml" Id="R5bfad1a9a7e646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c9dddb28f44a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1519a63d714806" /><Relationship Type="http://schemas.openxmlformats.org/officeDocument/2006/relationships/notesMaster" Target="/ppt/notesMasters/notesMaster1.xml" Id="R54850716fb4a45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88e5b7a50e494d" /><Relationship Type="http://schemas.openxmlformats.org/officeDocument/2006/relationships/notesMaster" Target="/ppt/notesMasters/notesMaster1.xml" Id="R95bc15a4ea5546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2051c57520490b" /><Relationship Type="http://schemas.openxmlformats.org/officeDocument/2006/relationships/notesMaster" Target="/ppt/notesMasters/notesMaster1.xml" Id="Recac42cd401141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aa0d8bac5a4ad5" /><Relationship Type="http://schemas.openxmlformats.org/officeDocument/2006/relationships/notesMaster" Target="/ppt/notesMasters/notesMaster1.xml" Id="Rc4522e8bf14f4e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f91c299b564442" /><Relationship Type="http://schemas.openxmlformats.org/officeDocument/2006/relationships/notesMaster" Target="/ppt/notesMasters/notesMaster1.xml" Id="R626498dce4814c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7d5845f02c4c30" /><Relationship Type="http://schemas.openxmlformats.org/officeDocument/2006/relationships/notesMaster" Target="/ppt/notesMasters/notesMaster1.xml" Id="Rbe86942740f243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807f3c76254032" /><Relationship Type="http://schemas.openxmlformats.org/officeDocument/2006/relationships/notesMaster" Target="/ppt/notesMasters/notesMaster1.xml" Id="Rb19a615fe59d46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9f0db52eac47c1" /><Relationship Type="http://schemas.openxmlformats.org/officeDocument/2006/relationships/notesMaster" Target="/ppt/notesMasters/notesMaster1.xml" Id="R907d516b5c2247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069b783d8b4acb" /><Relationship Type="http://schemas.openxmlformats.org/officeDocument/2006/relationships/notesMaster" Target="/ppt/notesMasters/notesMaster1.xml" Id="R8e74d01a1a6c47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6c7ea21ff64e7e" /><Relationship Type="http://schemas.openxmlformats.org/officeDocument/2006/relationships/notesMaster" Target="/ppt/notesMasters/notesMaster1.xml" Id="R2a382aaf0cab4a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0f203e88eb4e09" /><Relationship Type="http://schemas.openxmlformats.org/officeDocument/2006/relationships/notesMaster" Target="/ppt/notesMasters/notesMaster1.xml" Id="Raa90b485b8e145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d42c57b8bb4136" /><Relationship Type="http://schemas.openxmlformats.org/officeDocument/2006/relationships/notesMaster" Target="/ppt/notesMasters/notesMaster1.xml" Id="R4b4a1d29c2e54f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583751ed3342d1" /><Relationship Type="http://schemas.openxmlformats.org/officeDocument/2006/relationships/notesMaster" Target="/ppt/notesMasters/notesMaster1.xml" Id="R904fa0fc6d5e41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8b1defb46244d4" /><Relationship Type="http://schemas.openxmlformats.org/officeDocument/2006/relationships/notesMaster" Target="/ppt/notesMasters/notesMaster1.xml" Id="R28474c30925542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eef476afb84d43" /><Relationship Type="http://schemas.openxmlformats.org/officeDocument/2006/relationships/notesMaster" Target="/ppt/notesMasters/notesMaster1.xml" Id="Rf3a18c5ea07f4c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f4c5cdf4114625" /><Relationship Type="http://schemas.openxmlformats.org/officeDocument/2006/relationships/notesMaster" Target="/ppt/notesMasters/notesMaster1.xml" Id="Rd81e8756065e43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aec644c676427c" /><Relationship Type="http://schemas.openxmlformats.org/officeDocument/2006/relationships/notesMaster" Target="/ppt/notesMasters/notesMaster1.xml" Id="Rd1600176f99845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a692efad9c49e0" /><Relationship Type="http://schemas.openxmlformats.org/officeDocument/2006/relationships/notesMaster" Target="/ppt/notesMasters/notesMaster1.xml" Id="R6dfa1ed0ad084a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  <a:p xmlns:a="http://schemas.openxmlformats.org/drawingml/2006/main">
            <a:r>
              <a:t>Stundensatz-Quelle: freelancermap Freelancer-Kompass 2026, durchschnittlicher Stundensatz 103 EUR/h. URL: https://www.freelancermap.de/blog/freelancer-einkommen-projektumsatz/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  <a:p xmlns:a="http://schemas.openxmlformats.org/drawingml/2006/main">
            <a:r>
              <a:t>Bewertung: grobe kaufmannische Einschatzung, keine Rechts- oder Steuerberatung. Stundensatz-Quelle: freelancermap Freelancer-Kompass 2026, 103 EUR/h.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1148cec5a49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f93f02037477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18199F-3448-4F3E-B59C-D04B9CAB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7FA5D1-2660-4696-80E1-AD961DDA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B2A4A"/>
                </a:solidFill>
                <a:latin typeface="Aptos Display"/>
                <a:ea typeface="Aptos Display"/>
                <a:cs typeface="Aptos Display"/>
              </a:rPr>
              <a:t>ML-LMS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95A796-B18C-4F24-BDCB-CD22415B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07286"/>
                </a:solidFill>
              </a:rPr>
              <a:t>Projekt- und Innovationspräsentation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3020C8B-B233-4F63-9BB0-A808690FB88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51614bab904fe3" /><Relationship Type="http://schemas.openxmlformats.org/officeDocument/2006/relationships/slideLayout" Target="/ppt/slideLayouts/slideLayout1.xml" Id="R586ee53995f54326" /><Relationship Type="http://schemas.openxmlformats.org/officeDocument/2006/relationships/slideLayout" Target="/ppt/slideLayouts/slideLayout2.xml" Id="Rdbba0f7aac25429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B8B7858-1B3D-4113-A186-FA7AD3EE851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6ee53995f54326"/>
    <p:sldLayoutId xmlns:r="http://schemas.openxmlformats.org/officeDocument/2006/relationships" id="2147483650" r:id="Rdbba0f7aac25429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cedca5c23f4dab" /><Relationship Type="http://schemas.openxmlformats.org/officeDocument/2006/relationships/notesSlide" Target="/ppt/notesSlides/notesSlide1.xml" Id="Rf893049fff124f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5a4dc7c9a144f4" /><Relationship Type="http://schemas.openxmlformats.org/officeDocument/2006/relationships/notesSlide" Target="/ppt/notesSlides/notesSlide2.xml" Id="Raa16442dce7341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734796932a453e" /><Relationship Type="http://schemas.openxmlformats.org/officeDocument/2006/relationships/notesSlide" Target="/ppt/notesSlides/notesSlide3.xml" Id="Rabf163e4801d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720f843f7a49d0" /><Relationship Type="http://schemas.openxmlformats.org/officeDocument/2006/relationships/notesSlide" Target="/ppt/notesSlides/notesSlide4.xml" Id="R2f51b3fc569841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379f14eaf44941" /><Relationship Type="http://schemas.openxmlformats.org/officeDocument/2006/relationships/notesSlide" Target="/ppt/notesSlides/notesSlide5.xml" Id="R8e83ba89fe7e42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30a70161834697" /><Relationship Type="http://schemas.openxmlformats.org/officeDocument/2006/relationships/notesSlide" Target="/ppt/notesSlides/notesSlide6.xml" Id="R2d87b47c01a84b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fd007ea3d94355" /><Relationship Type="http://schemas.openxmlformats.org/officeDocument/2006/relationships/notesSlide" Target="/ppt/notesSlides/notesSlide7.xml" Id="R69d95ed9a2c049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a6c49cf39945a9" /><Relationship Type="http://schemas.openxmlformats.org/officeDocument/2006/relationships/notesSlide" Target="/ppt/notesSlides/notesSlide8.xml" Id="R719b1951d6c949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6c688c16e540d7" /><Relationship Type="http://schemas.openxmlformats.org/officeDocument/2006/relationships/notesSlide" Target="/ppt/notesSlides/notesSlide9.xml" Id="Re0162e37b42140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e6209d17bf43ef" /><Relationship Type="http://schemas.openxmlformats.org/officeDocument/2006/relationships/notesSlide" Target="/ppt/notesSlides/notesSlide10.xml" Id="R73ab10e4a9f04d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9e80b785424659" /><Relationship Type="http://schemas.openxmlformats.org/officeDocument/2006/relationships/notesSlide" Target="/ppt/notesSlides/notesSlide11.xml" Id="Rbc2e2e9f0cd743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234a749e604360" /><Relationship Type="http://schemas.openxmlformats.org/officeDocument/2006/relationships/notesSlide" Target="/ppt/notesSlides/notesSlide12.xml" Id="Rac63be98515e48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b18e6237545e9" /><Relationship Type="http://schemas.openxmlformats.org/officeDocument/2006/relationships/notesSlide" Target="/ppt/notesSlides/notesSlide13.xml" Id="Raae8f58c527643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527f935694c4b" /><Relationship Type="http://schemas.openxmlformats.org/officeDocument/2006/relationships/notesSlide" Target="/ppt/notesSlides/notesSlide14.xml" Id="R7f868d76d8844e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b6e9f2bd64e33" /><Relationship Type="http://schemas.openxmlformats.org/officeDocument/2006/relationships/notesSlide" Target="/ppt/notesSlides/notesSlide15.xml" Id="R9e59ef29f1f742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b8eb6704046ef" /><Relationship Type="http://schemas.openxmlformats.org/officeDocument/2006/relationships/notesSlide" Target="/ppt/notesSlides/notesSlide16.xml" Id="Rbc45c58551bc48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f6662ddfa4f4b" /><Relationship Type="http://schemas.openxmlformats.org/officeDocument/2006/relationships/notesSlide" Target="/ppt/notesSlides/notesSlide17.xml" Id="R9c0fe43c42f142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d1e5a04b243a1" /><Relationship Type="http://schemas.openxmlformats.org/officeDocument/2006/relationships/notesSlide" Target="/ppt/notesSlides/notesSlide18.xml" Id="R06f0dd08183546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2189D11-6243-44F2-AC7C-8A22E623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E4F7EF-E747-4CBE-B157-ABAC13E5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4389120" cy="4389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6B">
              <a:alpha val="95000"/>
            </a:srgbClr>
          </a:solidFill>
          <a:ln xmlns:a="http://schemas.openxmlformats.org/drawingml/2006/main" w="12700">
            <a:solidFill>
              <a:srgbClr val="123F6B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1283A67-556B-414F-A2B5-26D2D043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616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>
              <a:alpha val="70000"/>
            </a:srgbClr>
          </a:solidFill>
          <a:ln xmlns:a="http://schemas.openxmlformats.org/drawingml/2006/main"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792AE0-9F73-4552-8F86-DB54A2B7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4572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</a:rPr>
              <a:t>ML-LMS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34AA9B-3CB7-45B5-889A-C68E313A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4884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D8E8F7"/>
                </a:solidFill>
              </a:rPr>
              <a:t>Projekt- und Innovationspräsentation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6AAA81-B408-41BB-94CC-93399349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80360"/>
            <a:ext cx="7132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FC9DF"/>
                </a:solidFill>
              </a:rPr>
              <a:t>Lernen · Prüfen · Zertifizieren · Qualifikationen nachweisen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68DED25-0618-41D1-A9E2-D33D52E0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0332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3B5C"/>
          </a:solidFill>
          <a:ln xmlns:a="http://schemas.openxmlformats.org/drawingml/2006/main" w="12700">
            <a:solidFill>
              <a:srgbClr val="183B5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55EE44A-B121-4F96-8352-594BC732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6275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FE6F8"/>
                </a:solidFill>
              </a:rPr>
              <a:t>SELF-HOSTED</a:t>
            </a:r>
            <a:endParaRPr sz="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6EBE39A-7DAB-4651-B0A2-054A4CF4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703320"/>
            <a:ext cx="15087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3B5C"/>
          </a:solidFill>
          <a:ln xmlns:a="http://schemas.openxmlformats.org/drawingml/2006/main" w="12700">
            <a:solidFill>
              <a:srgbClr val="183B5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88F2A72-6416-40D5-9116-DDFF117C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762756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FE6F8"/>
                </a:solidFill>
              </a:rPr>
              <a:t>MANDANTENFÄHIG</a:t>
            </a:r>
            <a:endParaRPr sz="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E7D0415-C747-4F38-96CA-503A3646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6" y="370332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3B5C"/>
          </a:solidFill>
          <a:ln xmlns:a="http://schemas.openxmlformats.org/drawingml/2006/main" w="12700">
            <a:solidFill>
              <a:srgbClr val="183B5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84E7F70-F85D-4B9F-A6B3-031E60C8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376275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FE6F8"/>
                </a:solidFill>
              </a:rPr>
              <a:t>VERIFIZIERBAR</a:t>
            </a:r>
            <a:endParaRPr sz="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72CA0AD-BB7B-41C8-9042-18E2F4F3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1AEC6"/>
                </a:solidFill>
              </a:rPr>
              <a:t>Innovationsprozessmanagement · Konzept auf Basis eines vorhandenen funktionsfähigen Prototyps</a:t>
            </a:r>
            <a:endParaRPr sz="10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2EDD344-C363-41DF-A6C7-FA11D1053CF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05951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273A74-8C27-401E-A52B-FFFF5183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Die Idee in einem Satz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7C96660-DAC1-49BC-A8CD-692AD421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Eine durchgängige Plattform statt vieler Einzellösungen.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B21CAEB-F43D-4545-A9A3-54C2951C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09270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5587D44-FB0E-4395-A1A2-B8A4BDBC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56232"/>
            <a:ext cx="102870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ML-LMS verbindet Lerninhalte, Lernfortschritt, Prüfungen und verifizierbare Zertifikate in einer selbst hostbaren, mandantenfähigen Plattform.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98D7CDD-A90A-499D-9F80-AC2AD77F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C72921A-E016-4094-905E-E9C2CF0F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F42DD49-B793-49C2-8B6A-285AA0F2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Lernen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C554264-8A58-412E-B9D7-B9477B8B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Kurse, Abschnitte, Lektionen, Videos, Dokumente, Texte, Mini-Quiz und Lernpfade.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D288831-69CC-4619-B8D5-BF1A014D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63472AB-91F1-40B9-9FBC-FF700F39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A69E73E-D79B-49AE-A707-56459ABF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Prüfen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584CD7D-4162-43E8-B0BF-8A5011DE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Fragenkataloge, unterschiedliche Fragetypen, Prüfungsversuche sowie automatische und manuelle Bewertung.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E43A01D-FCE5-42C6-9803-A9DB71F5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225B241-250E-4560-9320-B90FD15A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0FFFCB1-DD59-47C5-A5F5-DF70CC74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Zertifizieren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2FB3ED6-F09E-462C-8917-C5838AEC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Automatisch erzeugte Zertifikate mit eindeutiger ID, QR-Code und öffentlicher Verifikation.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431CF75-E8E6-4696-80C6-88EC6BC3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56E0487-4556-483F-80CF-4D82C1B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9D07676-BE1E-49D9-A55D-6D442B0B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Betreiben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0F777EC-E574-4BEA-9420-C4D7734D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Organisationen, Rollen, eigenes Branding, eigene SMTP-Konfiguration und Self-Hosting.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252614C-2DA9-48C7-B215-12257538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9740942-DEFA-47ED-97B9-9EBEE9D241C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3302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667037-F112-4EE7-B155-005C5598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1 · Prozessgrafik: Vom Lerninhalt zum verifizierbaren Zertifikat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56F82E-5555-4ECB-B2AD-6F4F5B17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Ein durchgängiger Qualifikationsprozess ohne Medienbruch.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29A48F6-3C88-40A1-9226-C488B8ED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1697F83-830C-4306-B6B4-7D9E8BB2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E65A085-1517-4D32-BE82-65E3A889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Kurs erstellen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6F11560-86E6-44C7-B1C0-178BC94E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Trainer strukturiert Inhalte in Abschnitte und Lektionen.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E44E92F-6AD7-4A0A-91FB-A78352D7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AB0EF1F-7FBC-46B9-8DB4-2C3B3C15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D90F934-81D6-4258-A010-B1DD7F54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C79B0F9-130B-4DB9-98AD-04AAB4CF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Lernen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5C16534-9DE9-42DE-8940-58A0513E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Teilnehmer bearbeitet Inhalte; Fortschritt wird dokumentiert.</a:t>
            </a:r>
            <a:endParaRPr sz="9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27BBE49-DB24-4560-8B8F-2FE86155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57D45C0-DA1F-4013-9DF4-AF5C0368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8263A3F-9821-4F70-AD24-4BC25E7B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79A562A-FAC8-48DB-89A2-DAA6759A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Prüfen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EB32EB-5B76-4811-9A38-D67340A2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Prüfung aus Fragenkatalog mit definierten Bestehensregeln.</a:t>
            </a:r>
            <a:endParaRPr sz="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3A51E29-F68C-4A79-9439-BDBFB748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B3AC497-65AD-4184-9612-52AD2D29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157D5EE-D39C-4D43-8215-F51C3692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A3492CA-D2AC-40FA-868C-B703F533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Bewerten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C08E079-FDE1-4DBB-9E3E-BC5DDA44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Automatische Auswertung + manuelle Bewertung von Freitext.</a:t>
            </a:r>
            <a:endParaRPr sz="9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26B0894-E46F-4213-88AF-DC397C7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2B273EF-DA54-4CEE-AF80-4E11C1CB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C0A16F2-CD69-4C4D-A4FC-C3AF4E1A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5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6D96F7F-1FC0-4125-9AC7-45C63585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Zertifizieren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E863970-FF9D-4708-91F2-2C14E8F8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Erfolgreicher Abschluss erzeugt einen eindeutigen Nachweis.</a:t>
            </a:r>
            <a:endParaRPr sz="9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8753526-E145-4F8B-A35A-92180EB9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22A5E8C-0775-402F-8253-A50A6732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1811FE9-47C3-4C21-85D2-D8F80B81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6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DDB24E3-79B6-4239-BDC4-B14CC879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Verifizieren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A943900-734E-4598-B641-72F2D634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QR-Code / öffentliche Prüfung bestätigt Echtheit und Status.</a:t>
            </a:r>
            <a:endParaRPr sz="9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285D3D7-D520-4A4C-952E-C84C8458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996696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2700">
            <a:solidFill>
              <a:srgbClr val="B7DFC2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14936D1-F47E-410E-BCF6-0B4CE447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10328"/>
            <a:ext cx="9326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332"/>
                </a:solidFill>
              </a:rPr>
              <a:t>Ergebnis: Aus „Teilnahme“ wird ein nachvollziehbarer Qualifikationsnachweis – mit dokumentiertem Lernweg, Prüfungsergebnis und überprüfbarem Zertifikat.</a:t>
            </a:r>
            <a:endParaRPr sz="14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934C4C5-81B6-4676-B90C-2AC8C065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6E0EDD3-4AAF-420A-9913-9AA7868E536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1177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79AFD1E-401D-4896-8A7D-7AADFC26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2 · Produktübersicht des bestehenden Prototyps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D313701-D4C7-45F4-8A2C-A6A4B66C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Funktionsbereiche, die im Projekt bereits als eigene Django-Module angelegt sind.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7FD896A-57F2-4D5C-BDAF-09425AA1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C8720C-79AF-48FF-8808-441A0BD7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B86A701-094D-4F66-AA08-1285CF8A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1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5F78D9F-70E0-4B61-82FF-5D23FC92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Kursmanagement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89FD03D-A216-4F29-9078-C68BB48F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Kurse · Abschnitte · Lektionen · Begleitmaterial</a:t>
            </a:r>
            <a:endParaRPr sz="93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CB048FB-04B1-43E7-9870-25F557DF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apps/courses</a:t>
            </a:r>
            <a:endParaRPr sz="78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A19A05-440B-4C81-9DBD-49DCDC40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E8CA71A-CBFB-45D3-BE33-AE3C5DB8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6375EA7-EAED-47A4-B48D-F85FA44E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2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E8660FA-C568-4925-B8BC-88EEF7E6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Lernpfade &amp; Fortschritt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B46A56A-33EC-4601-B4D1-9133130E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Einschreibungen · Abschlussstatus · Bewertungen</a:t>
            </a:r>
            <a:endParaRPr sz="9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80B470A-9498-4CCC-AED0-F7DE39C0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apps/courses</a:t>
            </a:r>
            <a:endParaRPr sz="78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A82BDED-E581-4C76-B09F-D6E0520C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9350715-F396-4852-9AE2-94B50B48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2A0C7ED-5BC4-4F29-9240-8CD26B90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3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20B63EE-ACF4-4832-93CF-94C624A3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Prüfungssystem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D121590-1A51-4B82-A7B1-AE5333BC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Fragenkatalog · Tags · Versuche · Teilnehmerantworten</a:t>
            </a:r>
            <a:endParaRPr sz="93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24461F3-F0B6-43E0-9B75-A85D7C8A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apps/exams</a:t>
            </a:r>
            <a:endParaRPr sz="78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F2CDD90-4E2A-4592-BF10-9523C61A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9766324-7303-4A91-9355-39F8A31E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89C42CA-4971-4B68-8B06-4AB2E70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4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7733F5-CDF1-46E7-917F-A0DE37C9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Zertifikate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2DB6B5F-E0C7-447C-ADEA-375BE59F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Organisationsdesign · eindeutiger Zertifikatscode</a:t>
            </a:r>
            <a:endParaRPr sz="93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33E96F5-082E-4F4C-BA20-BEF95C7F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apps/certificates</a:t>
            </a:r>
            <a:endParaRPr sz="78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F70BD46-F1D7-4F41-BF34-2B03D248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7355A88-BA8C-459D-86B1-C28873ED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DFECD36-1A72-4175-BC1D-09B88C41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5</a:t>
            </a:r>
            <a:endParaRPr sz="9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2F8D59-C4B7-4056-989E-2C071888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Organisationen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7A490A6-81AF-4DDA-ABF5-1AD1724F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Mandanten · Einladungen · Branding · eigene Startseite</a:t>
            </a:r>
            <a:endParaRPr sz="93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B589BF3-58DB-4B0A-B1B7-F6D2C2CB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apps/organisations</a:t>
            </a:r>
            <a:endParaRPr sz="78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AD517F8-73ED-4392-A656-B331EC43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673D2ED3-86F6-4178-A842-9B5B4712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6DA9E1E-1BE9-4EAD-885B-06DF034D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6</a:t>
            </a:r>
            <a:endParaRPr sz="9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F32ABFA-F9A7-43A3-BB0A-61BE3144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Benutzer &amp; Rollen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D95E536-87BD-42AD-AB01-2E462B0F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Super-Admin · Org-Admin · Trainer · Prüfer · Lernender</a:t>
            </a:r>
            <a:endParaRPr sz="93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5B4F39B-7526-4860-A631-49DAD9BD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apps/accounts</a:t>
            </a:r>
            <a:endParaRPr sz="78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7663022-74E3-46BC-AEDB-F4FB05C2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6F9D4152-015C-4188-8075-E2B39A98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1C0D97BE-E830-43B1-8D84-E13DAE1F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7</a:t>
            </a:r>
            <a:endParaRPr sz="9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564A7161-670B-4C07-8809-C6401AA6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Payments</a:t>
            </a:r>
            <a:endParaRPr sz="13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03AF1E9B-B62E-477D-9A96-A2069067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Zahlungen · Provision · Traineranteil · Rechnung</a:t>
            </a:r>
            <a:endParaRPr sz="93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701DE6BD-8C87-4FC0-A37E-32500912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apps/payments</a:t>
            </a:r>
            <a:endParaRPr sz="78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5415919-B5C0-474A-BF5F-0012E391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D70F2DB8-764F-4226-9F7A-093F92CC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524EA8F4-2529-4176-9065-01E1F32D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8</a:t>
            </a:r>
            <a:endParaRPr sz="9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9843D8E7-4797-45F2-A9B6-7976D9D8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Security</a:t>
            </a:r>
            <a:endParaRPr sz="13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053032-9300-4F4C-BF58-24736337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Verschlüsselte sensible Felder · Security Checks</a:t>
            </a:r>
            <a:endParaRPr sz="93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7009AD85-D387-431E-AB63-2A2C59D9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apps/security</a:t>
            </a:r>
            <a:endParaRPr sz="78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873F3B1E-2527-42AA-AF92-F061F431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5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CF38D3-CDAD-468D-9163-19EC59E0899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19625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3D1D516-83F6-4F8B-BFF0-4DD5419B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Produktansicht: Lernenden-Dashboard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C7187B-4D82-4D51-A9E7-63D46E3C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Illustrative Produktübersicht auf Basis der vorhandenen Datenmodelle und Funktionen.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EEDAF6-15BB-44A5-9468-789505A6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10744200" cy="4526280"/>
          </a:xfrm>
          <a:prstGeom xmlns:a="http://schemas.openxmlformats.org/drawingml/2006/main" prst="roundRect">
            <a:avLst>
              <a:gd name="adj" fmla="val 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4D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E6EAAC2-C366-4680-88EA-A6C1F3C8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187452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4A3FA4B-85C3-4404-801E-0E3B1DA2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783080"/>
            <a:ext cx="1234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ML-LMS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1A7FA84-6576-4A5C-AEB8-7ED90FB4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2316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</a:rPr>
              <a:t>Dashboard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594FF12-3D0B-44C5-817F-B40D0689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2608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Meine Kurse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230B7CE-1433-4747-A1C7-13872197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42900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Lernpfade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58270A0-CC16-4B48-BAA8-AF90471E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93192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Prüfungen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9AEEC97-65DB-411F-8374-BA0E2071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43484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Zertifikate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A7B29DC-642C-4D6D-B372-66AD7924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830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2B3A"/>
                </a:solidFill>
              </a:rPr>
              <a:t>Guten Morgen, Max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2A936F4-A845-4FC2-B607-C6DB7052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7984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Dein Lernfortschritt auf einen Blick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75BC199-3B34-4FD9-B836-13C4E5D1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2E772C5-8971-4E07-83B3-A7632C58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6FEB"/>
                </a:solidFill>
              </a:rPr>
              <a:t>3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54A2365-3A94-4FE0-A158-2129097D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aktive Kurse</a:t>
            </a:r>
            <a:endParaRPr sz="8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BFD0F18-E970-4EA9-8054-843AF831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2700">
            <a:solidFill>
              <a:srgbClr val="F6C89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61EAC37-265B-4388-8BEC-FB5014F1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28C28"/>
                </a:solidFill>
              </a:rPr>
              <a:t>68 %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5EB8F65-A8F1-4D88-912F-364D1784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Lernpfad</a:t>
            </a:r>
            <a:endParaRPr sz="8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28FF57A-E8EB-412F-ABAE-19540273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9655C88-C461-4D10-8642-D8EAD49A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6FEB"/>
                </a:solidFill>
              </a:rPr>
              <a:t>1</a:t>
            </a:r>
            <a:endParaRPr sz="1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728FC8A-AF30-4BE3-956B-09339431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offene Prüfung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985DE82-772F-4830-B517-B20EE4B0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09B93D9-8A0A-4154-A456-B3D5ED11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6FEB"/>
                </a:solidFill>
              </a:rPr>
              <a:t>4</a:t>
            </a:r>
            <a:endParaRPr sz="1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12539E2-5A2C-4AF0-AA27-8C9889E5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Zertifikate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7B76243-3BFB-4FD9-8C46-5CFB67CE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1363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Weiterlernen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E5C87D9-3F69-40E3-9ACF-5138060B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97680"/>
            <a:ext cx="5394960" cy="105156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43A4FCE-9558-47A2-AAF6-567810C8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4517136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B3A"/>
                </a:solidFill>
              </a:rPr>
              <a:t>IT-Sicherheit Grundlagen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587F3C3-9ACB-422E-98DC-B396D0CA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4828032"/>
            <a:ext cx="2560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07286"/>
                </a:solidFill>
              </a:rPr>
              <a:t>8 von 12 Lektionen abgeschlossen</a:t>
            </a:r>
            <a:endParaRPr sz="9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5721D2C-00A8-4D65-8B10-7CB424B7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17720"/>
            <a:ext cx="1874520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F"/>
          </a:solidFill>
          <a:ln xmlns:a="http://schemas.openxmlformats.org/drawingml/2006/main" w="12700">
            <a:solidFill>
              <a:srgbClr val="DDE6EF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C92FE930-453E-4710-88B3-FDBDA370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17720"/>
            <a:ext cx="1280160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4909031-9A3F-46B6-B702-51D24FBF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526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1F6FEB"/>
                </a:solidFill>
              </a:rPr>
              <a:t>68 %</a:t>
            </a:r>
            <a:endParaRPr sz="10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6E61986-91E4-48AD-9189-8352C375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443984"/>
            <a:ext cx="15087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2632817-F550-411B-B853-9EEFF0FC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503420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FORTSETZEN</a:t>
            </a:r>
            <a:endParaRPr sz="9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6203A03-03BC-4D9A-8773-DE2337C2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Illustrative Produktansicht – keine 1:1-Abbildung eines gespeicherten Screenshots. Funktionen basieren auf dem vorhandenen Prototyp.</a:t>
            </a:r>
            <a:endParaRPr sz="75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9094B4E-C0DC-4CD7-A5EE-214D33DAF11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80682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FA4E55-83AE-4A14-8DC7-2F7AC678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Rollenmodell und Mandantenfähigkeit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45B3580-0267-4699-9883-53AD5BD1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Eine Plattform – klar getrennte Verantwortlichkeiten pro Organisation.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B6E4C-CD34-491D-9A8B-462B263A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0F7E31-2637-492F-8946-DDA44D87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7190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E497FEF-2902-43AA-A9FD-BC4F9BEA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673352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Super-Admin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48648BA-7105-4CFB-A91D-920B0098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73352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Plattformweite Administration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7A6B441-FB14-461C-853C-AA2203F8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5059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A00C175-A9E4-4AEB-9054-62DB3CF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569464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384435A-AB8D-459E-B023-10FC850D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23744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Org-Admin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78E11D-618C-489C-AC0C-33592683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23744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Organisation, Nutzer, Branding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50E638D-59D4-454B-8CAF-35157679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00984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98BBC42-F67A-40B5-A0EE-E89F574D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9856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556555E-240E-4320-A2E6-B639DB3D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74136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Trainer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C9A5502-B922-4DBC-AFC5-F8439EC0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4136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Kurse und Lerninhalte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632B31D-AD1C-4C3C-8307-C79BF7A3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51376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53AB909-23BE-4FD6-9875-49432C2B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7024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1C574B-9204-4C2B-9291-0B92FDE3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22452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Prüfer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F8A26BF-E1B1-416E-991C-5787F93C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245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Prüfungen und Bewertungen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05DD3B7-DFD3-4C6A-BAAB-FA0843E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0176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010D93F-F7DA-4093-8277-F51352FE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1206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8A7D11D-E174-4B16-A1C6-85DB80A7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07492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Lernender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18C8D70-6A85-47A4-9EF2-1F142B60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7492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Lernen, Prüfungen, Zertifikate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35A80F3-D6AB-4983-9F51-495981B3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4389120" cy="4160520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67DEFA7-54CD-4248-9E3B-96F442AB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2024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6FEB"/>
                </a:solidFill>
              </a:rPr>
              <a:t>Organisation A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63485FD-0D9C-4AB5-B858-77ABD8EA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2024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8A0AE"/>
                </a:solidFill>
              </a:rPr>
              <a:t>Organisation B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CA94B8A-4396-49EF-B213-4FA31CD3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1828800"/>
            <a:ext cx="0" cy="3246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A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4D60710-8448-4B8C-9CDE-B9B2B4D1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487168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6E6C92C-7348-46AA-BD21-06FC3C63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578608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Benutzer</a:t>
            </a:r>
            <a:endParaRPr sz="8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44588C5-661F-4DED-AD83-A58C57B0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87168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1AA77A5-6D0C-4A4F-B9BD-53F7CE4F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578608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Benutzer</a:t>
            </a:r>
            <a:endParaRPr sz="8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4B61C01-D821-4B2A-9A3E-D5EAC4E8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017520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E12A40C-428A-40E2-A2CD-AC92759B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108960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Kurse</a:t>
            </a:r>
            <a:endParaRPr sz="8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CCA05D3-860A-434F-856D-A952D4F8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17520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EC9322F-3E96-4CE3-9CF8-2C28A148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108960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Kurse</a:t>
            </a:r>
            <a:endParaRPr sz="8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0F623C9C-2A06-422F-8DEC-001516AD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47872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DAE2E366-6797-42DE-8E09-4695F1D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639312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Prüfungen</a:t>
            </a:r>
            <a:endParaRPr sz="8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43E92EE8-AC5F-4608-A49D-2D3F1E59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7872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D138E9D3-BF2B-46D2-BB74-EA54109A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639312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Prüfungen</a:t>
            </a:r>
            <a:endParaRPr sz="8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0B757969-B7C8-40E5-9222-7DAA16E0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078224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78D6154-6C59-4BF3-AE3B-04D9001D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169664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Branding</a:t>
            </a:r>
            <a:endParaRPr sz="8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DFF4602B-447A-4687-AFC4-054F79AC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78224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D100A0F-AFC9-496F-AB3D-444A6B67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169664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Branding</a:t>
            </a:r>
            <a:endParaRPr sz="8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430192A0-A1C2-45B8-9222-EBAAB71C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608576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ED466E9B-0C02-44DA-B55D-B23D488A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700016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SMTP</a:t>
            </a:r>
            <a:endParaRPr sz="8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110EE608-6AEE-4A3D-A647-0949021A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08576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8C11FA9C-0742-44E2-A448-DC5CB3BE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00016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SMTP</a:t>
            </a:r>
            <a:endParaRPr sz="85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52589C62-DDB5-4C5D-98A3-85A44797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3218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72B3A"/>
                </a:solidFill>
              </a:rPr>
              <a:t>Daten und Konfigurationen werden organisationsbezogen modelliert.</a:t>
            </a:r>
            <a:endParaRPr sz="9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78CF07EC-4306-4136-B514-05EEDC40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5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9BE8CB-9307-4763-AD20-B6FDBA0E77F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96999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F3979A-3F2C-4906-A09C-C85B8771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3 · Funktions- und Architekturübersicht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B3B9A3A-0D36-4553-8EEF-3C0882C8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Modularer Django-Monolith: überschaubar im Betrieb, klar getrennt nach Domänen.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1F70E2A-C4CD-4909-8666-4D897953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54480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20073E4-BEA4-482C-9E21-5D5E961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719072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6FEB"/>
                </a:solidFill>
              </a:rPr>
              <a:t>Browser / Nutzer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A98189C-497B-484E-8636-5EDEEDA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719072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Responsive Web-Oberfläche · Rollenbasierte Navigation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50A326B-23D4-44CF-A79C-336F776C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8600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AB8C6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F36ADEF-0AEC-4CFC-9256-AD118391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33472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DF7F8"/>
          </a:solidFill>
          <a:ln xmlns:a="http://schemas.openxmlformats.org/drawingml/2006/main" w="12700">
            <a:solidFill>
              <a:srgbClr val="C2E3E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880AFBD-0C1C-4449-9CA9-5692CBFA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98064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8A0AE"/>
                </a:solidFill>
              </a:rPr>
              <a:t>Django Application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7804345-5CC1-4FF7-921B-C96A640B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798064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Accounts · Organisations · Courses · Exams · Certificates · Payments · Security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ABFDF65-4FF9-4426-BFE3-A1443437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364992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AB8C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E9980E6-4A8D-4A27-9D62-1A7EEB89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12464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66D0B0F-5324-4E7D-A451-9EEAFF23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7705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Daten &amp; Dateien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8A58B41-9B7A-49A0-ACC3-587F3CEC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877056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SQL-Datenbank · Media Storage · optional S3-kompatibler Storage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EE61467-2815-42AA-A896-F17BD8E5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443984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AB8C6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3E5D22D-A682-48B5-9B47-DAB342B0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91456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2700">
            <a:solidFill>
              <a:srgbClr val="F6C89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082F5BD-C5CE-40A2-9905-8EC60A14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04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28C28"/>
                </a:solidFill>
              </a:rPr>
              <a:t>Infrastruktur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30400EB-20EF-47B6-AC78-234CF4C3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956048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Linux oder Windows · Reverse Proxy/TLS · eigener SMTP · Self-Hosting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8B2359A-B75C-4E32-8044-1975B7A2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80644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B2A4A"/>
                </a:solidFill>
              </a:rPr>
              <a:t>Architekturprinzip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C377634-0453-44BB-A6CA-A58F06C5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7296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Domänenmodule teilen Authentifizierung, Datenbank und Deployment – das reduziert Betriebsaufwand und erleichtert Self-Hosting.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6D1E6C1-2515-406D-9F26-36EC5FDD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B8F8818-6074-4745-B836-184D9273C9F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317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CF7836-5611-422B-8E9B-D6979977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4 · Technisches Konzept: Self-Hosting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F7C7AA-1C1E-4F2A-A4D8-90EF35D2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Betrieb auf eigener Infrastruktur – mit konfigurierbarer Datenbank und Storage.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5BC39EA-6D49-4F20-9A7D-12BE3E22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3375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6AFF4D0-EA93-462C-9B42-5403D509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42EBC5B-7A62-4D5F-9DE4-447DAA92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1368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Deployment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3486EEE-7D9C-4FF5-9A49-1AD1FD39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2848"/>
            <a:ext cx="2898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Installationsskripte für Linux und Windows sind im Projekt vorhanden. Konfiguration erfolgt über Umgebungsvariablen.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F2DF3C3-70CA-443A-9DB7-C9C0E3AB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00200"/>
            <a:ext cx="33375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26C1EFD-F8F2-497B-8DDC-A0132459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0020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119A7B0-9FD7-4635-A3A8-4DEA4ED7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01368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Datenbank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05729B8-FA55-40D7-9BAF-4318A3A5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12848"/>
            <a:ext cx="2898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Produktionskonfiguration sieht PostgreSQL als Standard sowie MySQL, MSSQL und MongoDB-Backend vor.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62A8453-7798-4F78-85B4-9B20F132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00200"/>
            <a:ext cx="33375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0E263C7-4C6B-4386-9742-AB97DCB0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0020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76CCE5C-5EA2-420B-A5C8-7CB432BD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801368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Dateispeicher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F0C41E2-647B-4890-A0E6-F6BB57ED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212848"/>
            <a:ext cx="2898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Lokaler Media-Speicher ist vorgesehen; optional kann S3-kompatibler Storage über django-storages genutzt werden.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95E004D-F155-4CF2-9614-D19E2CF3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862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Typisches Betriebsmodell</a:t>
            </a:r>
            <a:endParaRPr sz="15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CE775ED-3795-4C0A-8166-F27E383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85313D1-1392-4FCF-9367-DCB10689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Internet / Intranet</a:t>
            </a:r>
            <a:endParaRPr sz="9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D844371-383D-42E6-8128-E57B64F3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601F4AB-A87B-4B7A-84E4-F0294B20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C314611-492E-4ABA-AA5C-8B8E14C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TLS / Reverse Proxy</a:t>
            </a:r>
            <a:endParaRPr sz="9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E89384A-BB02-447B-BE09-CE010334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D590A16-6FB6-4078-9BC5-3EE487C9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0B0BC98-7E77-4459-BF22-C34A8B77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ML-LMS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C5B39C1-C2C5-43F4-BAF1-45A1A656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AFB170D-F6C7-40C0-A92B-D1ED406C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5F5352A-C3BF-4CA3-823D-F87AE1FC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SQL-Datenbank</a:t>
            </a:r>
            <a:endParaRPr sz="9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B50446E-E6F8-44BB-829E-AE1293B3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C40A5E7-532C-4B0D-8E19-451B63D8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0AB12AC-E00B-44BA-B2A3-95D4A3D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Media / S3</a:t>
            </a:r>
            <a:endParaRPr sz="9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F0208A-D453-408D-8954-DF22E2F8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86400"/>
            <a:ext cx="626364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2700">
            <a:solidFill>
              <a:srgbClr val="B7DFC2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4F93448-857D-4DD3-A374-E1CDE688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41848"/>
            <a:ext cx="5806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F6332"/>
                </a:solidFill>
              </a:rPr>
              <a:t>Nutzen: Datenstandort, Backup-Strategie und Zugriffswege bleiben unter Kontrolle des Betreibers.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2EDDAE8-5669-43EA-9BD1-078EB1C6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3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B4FCF7F-0163-4B61-9437-2668A1AC21F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916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685F289-9347-456A-B5CB-0303E3DF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Datenschutz &amp; technische Sicherheitsbausteine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EE9E2AF-74B3-44DC-AF1F-23DE619A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Self-Hosting schafft Kontrolle – Sicherheit entsteht zusätzlich durch konkrete Schutzmaßnahmen.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53D3F06-6541-4027-A20C-49381641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B7C2331-ADCA-4C7D-B289-A9C64F2B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CF47490-1A38-4ADA-A89B-2DBC576B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013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Verschlüsselte Felder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499C9DF-52C8-4AB6-AFC9-37CD9C4F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128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Sensible Konfigurationsdaten wie SMTP-Passwort, Zahlungs-Provider-Secrets, IBAN und Notizen verwenden verschlüsselte Datenbankfelder.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98862F2-CC37-4F27-A335-BCFFA44A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73A75D9-4B1E-4B43-9142-C2B15C58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D6977FD-A48A-4157-9266-525A7A85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013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Web-Security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08C4B75-E8ED-4558-B156-EE6AA0C9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128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CSRF-Schutz, sichere Session-/CSRF-Cookies und HTTPS-Weiterleitung sind in der Produktionskonfiguration vorgesehen.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4C89294-B80E-4BF6-97DA-8A10E61F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1CB6A11-7B0D-4423-A60A-82A7EBF3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6D45E0C-254A-47E4-B318-088543CF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587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Rollen &amp; Organisationen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20B1C41-ECA1-474F-96EA-CC59711D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702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Rollenmodell und organisationsbezogene Datenobjekte bilden die Grundlage für Zugriffstrennung und Least-Privilege.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60B0CCF-3995-4F49-A82F-6A92C9D0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576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B17E44A-5D7C-4E02-8FB4-700A7D73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576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F2BAA71-1D76-410C-8827-7D853DDB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8587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Nachvollziehbarkeit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37A0286-C06F-476D-AB67-E4E8CF05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02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AuditLog erfasst Akteur, Organisation, Aktion, Objekt und Metadaten für administrative bzw. zahlungsbezogene Vorgänge.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FA41A3E-2A54-4F2A-9BC6-F3A1D329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287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0392B"/>
                </a:solidFill>
              </a:rPr>
              <a:t>Für einen Produktivbetrieb zusätzlich erforderlich: Datenschutzkonzept, Lösch-/Aufbewahrungsregeln, Backup/Restore-Tests, Rechteprüfung, Patchmanagement und dokumentierte TOMs.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32D6AC9-B048-4638-93E6-D34C5585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B148C6D-3157-4C58-BF46-FDE48354B51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28359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D05B8C-A56F-48C0-B71B-67FF7D00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Was ist daran innovativ?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A5E67F-D448-4856-9E30-27470A33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Nicht ein einzelnes Feature – sondern die geschlossene Kette und die Betriebsfreiheit.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2AB5B11-D80B-4648-956E-6F690046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03A2E38-C694-40F3-B4CF-F7B01277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06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289F7B-99B5-4D41-B008-BDE2A677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AB9D7AC-CA5B-4598-9F35-4DDC669B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Durchgängigkeit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92F1D96-CF0E-437C-A9BF-752C8049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Lerninhalt → Fortschritt → Prüfung → Bewertung → Zertifikat → Verifikation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B050EB4-6FF5-4A9F-A050-71A797A7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0834794-DC58-4E8F-9AF1-E11A196D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9CDEA94-C5DB-4ED9-84C8-9457FCD8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AFD424B-AB82-4341-9224-83BB51D2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Datenhoheit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86CAFDB-B133-42F4-AF3A-CCA5303A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Self-Hosting statt zwingender Bindung an eine externe SaaS-Plattform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B5F6DAF-707D-443D-8A75-0384C4F5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688CFD6-009E-49D2-96DE-7055E33E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6ED9933-93A3-423F-8DBB-3010319E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8C59CF2-B5F3-4C5B-BDD1-86B7FB2D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Mandantenfähigkeit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68AE228-16AB-4973-9F7F-E41F7A6D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Mehrere Organisationen mit eigenen Rollen, Branding, Startseiten und SMTP-Einstellungen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84CCD85-FA2F-44AF-A6F4-99DBCD2C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5CA48F8-92C3-4E10-8828-EA124189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29D88DD-A4D6-4D26-A01B-88FB9166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441C220-C570-4CF8-AE45-B02625A9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Geschäftsmodell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9718DD8-C762-46B6-9C1C-7A49F172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Kostenlose und kostenpflichtige Kurse, Plattformgebühr und Traineranteil in derselben Lösung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C51696E-4A69-4E0E-8B8A-AC77A1B8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49240"/>
            <a:ext cx="8503920" cy="54864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4EF4A82-2CEF-4C38-A7EE-A94AC5FA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522976"/>
            <a:ext cx="7863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</a:rPr>
              <a:t>ML-LMS macht aus E-Learning einen kontrollierbaren, überprüfbaren Qualifikationsprozess.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7A755FB-5570-41A9-A8FE-B65E87CC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1619FAE-D8AF-4186-A1CA-A7DC6ABBB66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5667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91E52E-DEF4-4D21-9A05-84F1F2B3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Vom Prototyp zur produktiven Lösung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25892C-4D88-4145-8375-73F9501E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Die Basis ist vorhanden – die nächste Phase fokussiert Härtung, Pilotierung und Skalierung.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79DDF55-CAB5-4FCC-B28B-41C2CD0C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35123D-EEC1-4CC1-A1E3-548D8E16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6479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Heute · Prototyp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0AD3714-5A57-4DAE-B9AD-BB191507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55448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78ECEC-229B-4E2A-BECC-C48269B0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0078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Domänenmodelle, Rollen, Kurse, Lernpfade, Prüfungen, Zertifikate, Payments, Organisationen, Security-Bausteine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547B119-A1C3-4E06-8502-C6D4FFA6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5176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756B7E-1B34-42EA-A236-6E97EB16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6207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Phase 1 · Produktreife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5F9F25E-CBAF-4DCA-AD2A-9033D3A5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65176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6D47FCF-41AC-427E-8CA0-AC51F0ED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9806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End-to-End-Tests, Berechtigungsreview, UX-Feinschliff, produktive Payment-Anbindung, Dokumentation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50498FF-E231-4258-BE0E-98EBE4EA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4904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75A13E7-437E-4775-A245-004C8247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5935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Phase 2 · Pilot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ED72ED4-30FF-49FB-8B64-4EE94DFE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74904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19965B0-6759-4996-BB1B-BAD07787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9534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1–3 Organisationen, reale Lernpfade, Zertifikatsprozess, Feedback, Betriebs- und Supportprozesse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DECE515-B700-4EA1-B575-56F74447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8D74553-F95C-4D96-9F79-9C3BCA3E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5663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Phase 3 · Skalierung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8911B65-FD8C-4C8B-A498-C36B7E96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84632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B6F9C45-8A29-456D-A2D1-3C389A27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9262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Standardisiertes Deployment, Monitoring, Integrationen, Reporting, Vertrieb/Partner-Modell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3C79ED-F2F3-4E99-AAF2-57A4DCBF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704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B2A4A"/>
                </a:solidFill>
              </a:rPr>
              <a:t>Empfohlener Innovationsnachweis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C86B527-A75B-40AF-A117-6EC96543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52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Pilotprojekt mit messbaren Kennzahlen: Abschlussquote · Prüfungsquote · Verwaltungszeit · Zertifikatsverifikation · Nutzerfeedback.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3048EB-72FA-49D2-AA75-84CD2219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5B6D81F-AEEB-458A-B429-E522FB182D6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7100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1A5FF2B-1A9D-4883-955D-7F56FC28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F26462-2EA2-4A52-A17F-FD6CF8D4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88720"/>
            <a:ext cx="3200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</a:rPr>
              <a:t>ML-LMS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DFFF87C-3AEF-4263-818E-EBECF69E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11680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D8E8F7"/>
                </a:solidFill>
              </a:rPr>
              <a:t>Eine Plattform für den vollständigen Qualifikationsprozess.</a:t>
            </a:r>
            <a:endParaRPr sz="2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3267C5F-D37F-429C-A810-8612F374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468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8FC5FF"/>
                </a:solidFill>
              </a:rPr>
              <a:t>Lernen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97C8B72-396F-41F0-AE29-A914847F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154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7E9BB5"/>
                </a:solidFill>
              </a:rPr>
              <a:t>→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DBF3E8C-7DA0-44CD-9037-5D4290A2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15468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D09A"/>
                </a:solidFill>
              </a:rPr>
              <a:t>Prüfen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7B52BA0-8067-4520-999E-F70801DA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154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7E9BB5"/>
                </a:solidFill>
              </a:rPr>
              <a:t>→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3A2E104-60A3-4BAA-BCD8-022AAC52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5468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A7E5B6"/>
                </a:solidFill>
              </a:rPr>
              <a:t>Zertifizieren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3D489A3-C76B-465A-B0FB-27C3C3EA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154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7E9BB5"/>
                </a:solidFill>
              </a:rPr>
              <a:t>→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E55476A-6C18-45CE-AA92-329FBFE0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5468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DE1E5"/>
                </a:solidFill>
              </a:rPr>
              <a:t>Verifizieren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BAF2CB9-C718-4408-9D38-6234F708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7772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FC9DF"/>
                </a:solidFill>
              </a:rPr>
              <a:t>Self-hosted · Mandantenfähig · Erweiterbar · Datenhoheit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AD58575-4965-4B24-9C42-AEB73795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97880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7899B5"/>
                </a:solidFill>
              </a:rPr>
              <a:t>Grundlage: vorhandener ML-LMS-Prototyp, Stand des bereitgestellten Projektarchivs</a:t>
            </a:r>
            <a:endParaRPr sz="9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D318FB8-1A01-4ABF-B2B6-53CDD71D6FA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11582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407080-3BCE-4DE3-8122-59BF8355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7279B-2CB0-484C-B56C-29F95A5D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ML-LMS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25ED0-0969-4A3B-98EA-F19C3D2F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Aktueller Stand nach lokaler Prufung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A082F-AAAA-4656-983F-38E6ED16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Der Prototyp wurde lokal gehartet und fur den nachsten Produktionscheck vorbereitet.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0D525-E34B-4798-BA79-25E2BC41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628A6-234A-40EE-98FB-ED9221AC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859B8-DB9F-4C7C-A83B-1B78640D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7485E-5DEB-4DFA-9877-9B833D9E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BA3F1-B3AC-4A0D-9A61-54B78DB6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53 + 4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80966-79E3-4976-914F-A33BBF91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Tests bestanden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DD3AB-7F6A-4680-AE6A-6149CABE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7E1CA-BA17-4E84-AD25-AA8CDB52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DABC0-D901-46C5-9F95-90D89A63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7CF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7CF6"/>
                </a:solidFill>
                <a:latin typeface="Aptos"/>
                <a:ea typeface="Aptos"/>
                <a:cs typeface="Aptos"/>
              </a:rPr>
              <a:t>Payment aus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8D0B5-3178-4BE2-9AB3-5560C6B4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Standard fur neue Kaufe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ADD36-05B9-4C30-A8AE-407692E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7CA49-54E2-4FF2-81C1-CD3E7D96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6A6"/>
          </a:solidFill>
          <a:ln xmlns:a="http://schemas.openxmlformats.org/drawingml/2006/main" w="0">
            <a:solidFill>
              <a:srgbClr val="12A6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2EC31-91E6-4EA5-852A-B850BECA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A6A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2A6A6"/>
                </a:solidFill>
                <a:latin typeface="Aptos"/>
                <a:ea typeface="Aptos"/>
                <a:cs typeface="Aptos"/>
              </a:rPr>
              <a:t>Super-Admin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801FD-C6A9-400F-B624-D5B78FB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kann wieder aktivieren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94A53-D9B6-464F-9256-6D9E27ED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523A3-745F-43CB-99D2-342D5F80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3668D-8BC5-44C6-8E8A-D076AF76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lokal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34F6F-9667-4CDE-BED4-35D3C6E6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vor Online-Gang getestet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5837A-27A3-445A-AFE5-B626DB7C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954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0F17C0-560B-4C7B-937A-9FFE30F2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954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59FD93-FB93-40E8-B590-05BA4F94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240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CA7056-E65A-4C72-8EDC-84AB51C0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Fehlerbericht-Tests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F13D49-BC33-4AD3-99DF-1ECF7CE8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4FF4A-563E-4A38-99A7-CFC1CC74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DB2670-59BB-4A56-B683-82073A4E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Behoben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AB4676-A789-4AE2-A15F-79E02E6D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96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Trainerzugriffe sind rollenbezogen abgesichert. Fremde Organisationen und inaktive Trainer erhalten keinen Bearbeitungszugriff.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45734C-E11F-44AD-91A0-86F2B49F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5BD26D-BD01-4A76-AA80-D3110CA5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93BD09-3F47-4702-B972-70ABA856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Gepruft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39DAD1-3887-4C3C-B784-CBFFE454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719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Checkout, Dashboard, CSRF-Verhalten, Produktions-Smoke-Tests und Browserpfade wurden lokal kontrolliert.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A647EB-2468-433D-BA42-D6EECE4E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5F22F3-9C1B-42FD-916A-E0FA265A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EC63C1-EFA1-45DC-A19F-DADC8521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Dokumentiert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13D108-349C-4BC4-9224-1320EC9A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Die Produktionsprufung steht als eigene Datei im Projekt und benennt offene Punkte fur den echten Serverbetrieb.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56DB3D-FAE9-4F8E-A930-49075385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333423-48A6-4220-8D71-51F94374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2927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Fazit: Der Code ist lokal vorzeigbar, aber der echte Produktivgang braucht noch Zielserver, echte Secrets und Betriebsentscheidungen.</a:t>
            </a:r>
          </a:p>
        </p:txBody>
      </p:sp>
    </p:spTree>
    <p:extLst>
      <p:ext uri="{BB962C8B-B14F-4D97-AF65-F5344CB8AC3E}">
        <p14:creationId xmlns:p14="http://schemas.microsoft.com/office/powerpoint/2010/main" val="18707019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D76DDD-EED9-4994-AF81-517D5762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B95BF-252D-449D-AE35-B147AD84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ML-LMS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3429D-6FDE-4B6D-8784-C250A787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Produktionsprufungen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947C9-3625-480C-947B-3BCEFE35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lokale Prufung trennt Codequalitat von den noch fehlenden Serverentscheidungen.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47A2A-8BFE-4744-A4D9-F2FBCE5A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6794D-6C84-4325-A3D8-FE8B115C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73576-5F32-49B5-B4D1-3CA8B77A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27672-0EE7-49ED-805B-6F1AAAA6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50EFE-BAA7-40A4-AA10-F87A79E2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Lokal erledigt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734F5-E2B6-4284-97CF-76741761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555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Django-Checks, Migration-Check, Browser-Smoke-Test, Payment-Schalter, Berechtigungen und sicherheitsrelevante Regressionstests.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85681-2273-451A-8DC6-56E6285F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764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B9101-5901-4819-BE7F-217CA3BC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764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6F1FF-87A6-4092-A3EF-027C3571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66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Produktionsmodus simuliert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2BF29-A077-44B4-9363-DCE611D8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05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Ein isolierter Produktions-Smoke-Test lauft mit temporarer Datenbank, aktivem HTTPS-Verhalten und echten CSRF-Regeln.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4A26D-4F35-43E8-9442-732EB4CE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499F0-63D3-4475-8B10-30B8CE6B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16308-712F-4D59-A51A-8DC21902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Noch extern abhangig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618CA-1F76-4A58-B5B2-537FA8E1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959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Domain, Datenbank, SMTP, S3 oder lokaler Media-Speicher, Backup-Konzept, TLS/Proxy und Serverpfade mussen am Zielsystem gepruft werden.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37EC7-83B8-4E27-AA2B-6234B9A6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Offene Produktionsentscheidungen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B7AB6-D7B6-4A66-B003-97246BC2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30722-05C4-4930-9A7F-00B2EF37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2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Private Kursmedien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E2CA7-8C4C-4E3E-B157-7FB607B4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Media-Dateien brauchen vor Livegang eine geschutzte Auslieferung.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37ACE-D087-48C2-9813-A6B72A06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E6DBA-F099-4CA1-9F4E-344A69A3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24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Einladungen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1CE96-942F-4568-8551-6656C8A0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vorhandene Einladungserstellung verschickt noch keine produktiven E-Mails.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8FF0A3-07A1-4BD2-AC40-4152BAA0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62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453BA-5CE3-45A9-B018-3451AC74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Datenbankbetrieb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A0EC55-24E5-45FE-B357-099BA1C5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24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Rechnungsnummern, Nebenlaufigkeit und Restore-Prozesse am Zielsystem testen.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B88AFA-94DD-46F6-ABF1-8362BF9A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E07FCF-3DE6-4EF0-A9CA-43CEFDDB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24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Recht &amp; Betrieb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519571-A1C2-4A09-8E14-F28F1813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Datenschutz, Aufbewahrung, TOMs, Supportwege und Zahlungsrecht final klaren.</a:t>
            </a:r>
          </a:p>
        </p:txBody>
      </p:sp>
    </p:spTree>
    <p:extLst>
      <p:ext uri="{BB962C8B-B14F-4D97-AF65-F5344CB8AC3E}">
        <p14:creationId xmlns:p14="http://schemas.microsoft.com/office/powerpoint/2010/main" val="10634941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4E688B-5979-4BA2-8639-AF0F4682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3E1D0-CC41-4377-A27B-8EF9939F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ML-LMS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24BD1-7BAA-40AE-8F17-437FE060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Payment-Schalter fur Super-Admins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B75F0-675E-44C7-8148-763EF934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Neue Zahlungen bleiben deaktiviert, bis ein berechtigter Super-Admin sie bewusst freigibt.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7C758-8FFD-440A-BED9-0DE1D97F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0B7C5-71E0-4F41-BEFF-9FC2FB39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8D158-E8F2-45E6-A46F-A7772B48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F47E6-FFFE-441E-B62A-0877D0E2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B70E0-71A9-401F-AC68-1620F675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2562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Standardzustand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1D69B-6B18-4018-A102-D84CE7CC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254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payment_aktiv steht standardmassig auf AUS. Neue kostenpflichtige Einschreibungen erzeugen keine Zahlung, solange der Schalter deaktiviert 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0C844-6071-4D18-A2C3-803A9992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Bestehender Zugriff bleibt erhalten.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BF1EC-957A-45B1-8FE2-EE437BF0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0F791-9FD5-441A-94B5-B22DD391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AD498-DFD1-4041-962E-1A4CB400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85950"/>
            <a:ext cx="2562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Reaktivierung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63383-2071-465D-949A-7EC7DFFC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24100"/>
            <a:ext cx="254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Super-Admins erreichen die Einstellung uber das Superadmin-Menu und konnen Zahlungen fur neue Kaufe wieder aktivieren.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A921B-88F3-4666-ABA4-CFD2E74A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7185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Anderung wird im AuditLog erfasst.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2E795-8CA0-4CDA-96CF-33B496A0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74392-3016-473E-A329-7767FF26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AC099-18DC-434C-A462-044F5805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85950"/>
            <a:ext cx="2562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Betriebslogik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E68BC-35B6-44FA-93D2-920CC07A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54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Demo-Zahlungen bleiben an DEBUG gebunden. Online-Provider werden in Produktion nicht automatisch freigegeben.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6A3E6-BB71-400D-99FC-585C005D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Provider-Secrets bleiben separat zu konfigurieren.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FF7AD-2DAA-46C9-8D2E-2FD1D62F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941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8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AD35EE-A617-42A7-83AD-C361D9D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48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Praktischer Nutzen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BC0F31-5983-4D31-8A60-2A90E68D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29150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02033"/>
                </a:solidFill>
                <a:latin typeface="Aptos"/>
                <a:ea typeface="Aptos"/>
                <a:cs typeface="Aptos"/>
              </a:rPr>
              <a:t>Die Plattform kann lokal und spater online gepruft werden, ohne dass versehentlich echte Kaufe oder Demo-Bestatigungen durchlaufen.</a:t>
            </a:r>
          </a:p>
        </p:txBody>
      </p:sp>
    </p:spTree>
    <p:extLst>
      <p:ext uri="{BB962C8B-B14F-4D97-AF65-F5344CB8AC3E}">
        <p14:creationId xmlns:p14="http://schemas.microsoft.com/office/powerpoint/2010/main" val="2683926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A81138-2572-4570-900B-7BC02750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834FE-0BE6-4F8E-B72F-791C5AF4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ML-LMS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C9FAE-64B7-46F1-BBA2-F7A3217A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Entwicklungskosten als Wiederbeschaffungswert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54F95-F08C-4DF3-92C7-73F6D0D5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Bewertung orientiert sich am sichtbaren Funktionsumfang und einem aktuellen Freelance-Stundensatz.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D7742-7247-4748-8194-03837149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E5277-0670-4540-B240-AFA5DDDA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B8C31-6063-415F-8B68-674FF8A8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Arbeitswert nach Modulen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95BB2-4ACE-4770-B393-00C3E105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B1692-A657-45F1-9E15-888CD4F5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Architektur, Rollen, Mandanten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6E77E-77A0-44C5-924A-88696DEB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60 bis 100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FAE53-7D26-4482-8263-E271DE85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EBD42-81D5-4608-9559-575BF51E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Kurse, Uploads, Fortschritt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36DAA-673D-4CFA-8D9D-6D4A23E2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43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90 bis 150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0333D-98EF-4CD1-A928-7D5E48E9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1AA34-AFF6-4BDC-B554-677A51D2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Prufungen, Auswertung, Zertifikate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A9434-F41D-434D-9E59-065C319D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100 bis 170 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1EB1D-877D-4357-ABA7-F4C05AF4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21A5E-0DA1-4DB6-8384-CED4D398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Org-Admin, UX,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CB6DD5-C5E3-4B67-9A9D-1CEFCFC7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70 bis 120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6DCCB-DE37-43A1-9982-23A6D5B2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E1CF9-EFE7-40DF-89F2-79C30772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Payments, Rechnung, Schalter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B2199-43FF-401F-B25C-01BE1006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29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35 bis 60 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6CCAC-6F29-42F7-ADF0-C72D9971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F070B-4F43-47EB-8779-48FCC57B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Tests, Doku, Deployment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1F922-A0AB-4293-8D31-00BF0802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244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65 bis 100 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9B14C-BC85-4970-9580-DECE02AA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19BC39-7EF3-4CF4-B9E1-9F17C94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420 bis 700 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27044-C259-4EF3-87AA-3A597C99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CFE0F5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CFE0F5"/>
                </a:solidFill>
                <a:latin typeface="Aptos"/>
                <a:ea typeface="Aptos"/>
                <a:cs typeface="Aptos"/>
              </a:rPr>
              <a:t>bei 103 EUR pro Stunde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A7F766-E801-4EAC-B960-A545C045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43.260 bis 72.100 EUR netto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511359-2A04-4A99-AAE5-ECD9DE4A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506477"/>
                </a:solidFill>
                <a:latin typeface="Aptos"/>
                <a:ea typeface="Aptos"/>
                <a:cs typeface="Aptos"/>
              </a:rPr>
              <a:t>Das ist kein Buchwert, sondern ein plausibler Wiederbeschaffungswert fur eine Firma, die denselben Code neu entwickeln lassen musste.</a:t>
            </a:r>
          </a:p>
        </p:txBody>
      </p:sp>
    </p:spTree>
    <p:extLst>
      <p:ext uri="{BB962C8B-B14F-4D97-AF65-F5344CB8AC3E}">
        <p14:creationId xmlns:p14="http://schemas.microsoft.com/office/powerpoint/2010/main" val="12439165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608D08-105A-4AFD-80B7-B46F00BB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BE3D6-5025-446F-A1EA-F6E42CC2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ML-LMS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EB581-2E41-45FE-B0BB-38943E08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Verkauf des kompletten Codes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4C44C-1751-4740-87D3-DAED6838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Ein realistischer Preis liegt unter dem Wiederbeschaffungswert, solange Produktivrisiken beim Kaufer bleiben.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9CB46-BA93-4E74-BD1A-9A127265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07BEA-7D01-4770-9F2E-0D4FFB7F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7B933-2E55-402C-BBC5-D9818E38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EC968-F8B1-437D-AC53-81D4576D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8721E-4225-4159-A93E-C3CC071E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Aktueller Codeverkauf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C093B-6CF9-4E8C-A448-9843370D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15.000 bis 30.000 EUR netto fur eine exklusive Codeubergabe mit bekannter Restarbeit und ohne laufende Umsatze.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51EB8-1A76-41D8-BB14-75C3E941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Verhandlungsanker: 29.500 EUR netto.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124F1-BF78-4257-94DA-9DA5D0C3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AF248-7373-4B1A-B143-FCD61165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2F994-E08C-49CE-A1B1-9E92BE6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Nach Produktionshärtung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5D10D-B486-438C-BC69-51A053D2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3840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30.000 bis 50.000 EUR netto, wenn Zielserver, echte Payment-Anbindung, Medienzugriff, Backup und Ubergabepaket fertig sind.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098EB-5624-4D3F-8DC8-D0E01ACB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14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Starker, sobald ein Pilot lauft.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168F0-343E-4F2B-B8CC-158773FB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948A7-9A50-412C-BF9F-2E2F5391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EC21D-5502-4BCE-9788-F84873CC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Vertraglich klaren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62551-80F0-490B-9EE7-F19F4093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Exklusivitat, Weiterverkauf, Nutzung alter Versionen, Drittanbieter-Lizenzen, Gewahrleistung, Abnahme und Support separat regeln.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BFE8C-22F3-4C15-A708-B095000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14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Anwaltlich prufen lassen.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F2858-F16D-4ACE-A978-3D8AEE01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6CCDF6-283C-4839-91E3-0DA61C3D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962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Empfehlung: 29.500 EUR netto anbieten und Support, Installation sowie Anpassungen als separate Leistungen verkaufen.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7E7D8-6804-444F-86F3-F129B47C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Verkaufslogik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02B458-E4A4-4764-8295-41490EB9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673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06477"/>
                </a:solidFill>
                <a:latin typeface="Aptos"/>
                <a:ea typeface="Aptos"/>
                <a:cs typeface="Aptos"/>
              </a:rPr>
              <a:t>Der Kaufer zahlt fur Zeitvorsprung, vorhandene Fachlogik und Eigentumsnahe am Code. Abschlage entstehen durch fehlende Umsatze, offene Produktionspunkte und noch nicht voll angebundene Payment-Provider.</a:t>
            </a:r>
          </a:p>
        </p:txBody>
      </p:sp>
    </p:spTree>
    <p:extLst>
      <p:ext uri="{BB962C8B-B14F-4D97-AF65-F5344CB8AC3E}">
        <p14:creationId xmlns:p14="http://schemas.microsoft.com/office/powerpoint/2010/main" val="12305027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2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EB8EE-6D51-40BA-A11E-FA7991F1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32C63-B163-4B70-A2E6-AEA2C977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8C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D12B8-995E-4AFE-97EE-8365EBFC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90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ML-LMS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78734-C938-46E4-B6A2-C2BFC12C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Aktueller Projektstand und Bewertungsrahmen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90A9F-5472-4111-AE68-A1A1D56B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7E8F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D7E8FA"/>
                </a:solidFill>
                <a:latin typeface="Aptos"/>
                <a:ea typeface="Aptos"/>
                <a:cs typeface="Aptos"/>
              </a:rPr>
              <a:t>Produktionsprufung lokal erledigt · Payment deaktiviert · Super-Admin kann aktivieren · Verkaufspreisrahmen vorbereitet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C0FD7-89C6-428B-BC9D-9959F6A2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2A44A-DF8E-4D23-814F-11EFD04D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Nachster sinnvoller Schritt: Zielserver festlegen und die offenen Produktionspunkte gegen echte Infrastruktur prufen.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E2B4F-5FB2-4654-8F8E-DB44C2AE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FFFFF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604145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2026-09-10T06:26:45.9840000Z</dcterms:created>
  <dcterms:modified xsi:type="dcterms:W3CDTF">2026-09-10T06:26:45.9840000Z</dcterms:modified>
</coreProperties>
</file>